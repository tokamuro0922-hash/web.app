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097280"/>
            <a:ext cx="5029200" cy="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103120"/>
            <a:ext cx="5029200" cy="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108960"/>
            <a:ext cx="5029200" cy="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5029200" cy="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120640"/>
            <a:ext cx="5029200" cy="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731520"/>
            <a:ext cx="29260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731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鋳造構造部品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2801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spc="4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GHC-500</a:t>
            </a:r>
            <a:endParaRPr lang="en-US" sz="68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ギアハウジングカバー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FC250 鋳鉄 / 精密機械加工品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材質 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FC250（JIS G 5501）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1056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外形寸法 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410565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220×160×36 mm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5079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質量 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83080" y="4507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865 g 以下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9103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表面処理 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83080" y="49103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ウレタン塗装（膜厚40±10μm）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9144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製品説明資料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303520" y="1691640"/>
            <a:ext cx="6217920" cy="1188720"/>
          </a:xfrm>
          <a:prstGeom prst="rect">
            <a:avLst/>
          </a:prstGeom>
          <a:solidFill>
            <a:srgbClr val="1C2526"/>
          </a:solidFill>
          <a:ln w="12700">
            <a:solidFill>
              <a:srgbClr val="607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03520" y="1691640"/>
            <a:ext cx="548640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169164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43600" y="18013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高剛性・軽量設計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21488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FC250の優れた強度特性を活かし、安全率2.3以上の堅牢設計を実現。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3063240"/>
            <a:ext cx="6217920" cy="1188720"/>
          </a:xfrm>
          <a:prstGeom prst="rect">
            <a:avLst/>
          </a:prstGeom>
          <a:solidFill>
            <a:srgbClr val="1C2526"/>
          </a:solidFill>
          <a:ln w="12700">
            <a:solidFill>
              <a:srgbClr val="607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03520" y="3063240"/>
            <a:ext cx="548640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306324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43600" y="31729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精密機械加工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43600" y="3520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合わせ面平面度0.05mm以下。三次元全数測定で品質を保証。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03520" y="4434840"/>
            <a:ext cx="6217920" cy="1188720"/>
          </a:xfrm>
          <a:prstGeom prst="rect">
            <a:avLst/>
          </a:prstGeom>
          <a:solidFill>
            <a:srgbClr val="1C2526"/>
          </a:solidFill>
          <a:ln w="12700">
            <a:solidFill>
              <a:srgbClr val="607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03520" y="4434840"/>
            <a:ext cx="548640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443484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43600" y="45445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優れた密封性能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943600" y="48920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リン酸塩処理＋ウレタン塗装で内圧0.5MPaに対し安全率2.4。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製造株式会社　|　GHC-500 製品説明資料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製品仕様・材料特性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486400" cy="53949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製品仕様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1752" y="1609344"/>
            <a:ext cx="5440680" cy="320040"/>
          </a:xfrm>
          <a:prstGeom prst="rect">
            <a:avLst/>
          </a:prstGeom>
          <a:solidFill>
            <a:srgbClr val="1C2526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36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製品名称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0" y="16367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ギアハウジングカバー GHC-500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" y="1947672"/>
            <a:ext cx="544068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751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型番・図番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0" y="19751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XS500-GHC-004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1752" y="2286000"/>
            <a:ext cx="5440680" cy="320040"/>
          </a:xfrm>
          <a:prstGeom prst="rect">
            <a:avLst/>
          </a:prstGeom>
          <a:solidFill>
            <a:srgbClr val="1C2526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13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材質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23134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FC250（JIS G 5501 ねずみ鋳鉄）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1752" y="2624328"/>
            <a:ext cx="544068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製造方法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砂型鋳造 → 精密機械加工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752" y="2962656"/>
            <a:ext cx="5440680" cy="320040"/>
          </a:xfrm>
          <a:prstGeom prst="rect">
            <a:avLst/>
          </a:prstGeom>
          <a:solidFill>
            <a:srgbClr val="1C2526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90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外形寸法（加工後）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0" y="29900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220×160×36 mm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1752" y="3300984"/>
            <a:ext cx="544068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28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中心穴径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0" y="332841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Φ16 H7（+0.018/0 mm）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1752" y="3639312"/>
            <a:ext cx="5440680" cy="320040"/>
          </a:xfrm>
          <a:prstGeom prst="rect">
            <a:avLst/>
          </a:prstGeom>
          <a:solidFill>
            <a:srgbClr val="1C2526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667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取付穴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0" y="36667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M8×6穴 PCD Φ70±0.05 mm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01752" y="3977640"/>
            <a:ext cx="544068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合わせ面平面度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0" y="40050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≤0.05 mm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01752" y="4315968"/>
            <a:ext cx="5440680" cy="320040"/>
          </a:xfrm>
          <a:prstGeom prst="rect">
            <a:avLst/>
          </a:prstGeom>
          <a:solidFill>
            <a:srgbClr val="1C2526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表面処理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0" y="4343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リン酸塩処理 ＋ ウレタン系塗装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1752" y="4654296"/>
            <a:ext cx="544068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81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塗装膜厚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0" y="46817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40±10 μm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01752" y="4992624"/>
            <a:ext cx="5440680" cy="320040"/>
          </a:xfrm>
          <a:prstGeom prst="rect">
            <a:avLst/>
          </a:prstGeom>
          <a:solidFill>
            <a:srgbClr val="1C2526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020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耐内圧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743200" y="50200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MPa（安全率2.4以上）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01752" y="5330952"/>
            <a:ext cx="544068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358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作動温度範囲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743200" y="53583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−20〜80°C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01752" y="5669280"/>
            <a:ext cx="5440680" cy="320040"/>
          </a:xfrm>
          <a:prstGeom prst="rect">
            <a:avLst/>
          </a:prstGeom>
          <a:solidFill>
            <a:srgbClr val="1C2526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696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質量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743200" y="56967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865 g 以下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01752" y="6007608"/>
            <a:ext cx="544068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03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適用規格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743200" y="6035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 G 5501 / JIS Z 2345（UT検査）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080760" y="1005840"/>
            <a:ext cx="5760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6364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FC250 材料特性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263640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引張強さ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092440" y="1600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≥250 MPa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601200" y="1636776"/>
            <a:ext cx="1920240" cy="182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01200" y="1636776"/>
            <a:ext cx="1728216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2057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圧縮強さ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92440" y="2057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≥600 MPa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601200" y="2093976"/>
            <a:ext cx="1920240" cy="182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01200" y="2093976"/>
            <a:ext cx="192024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63640" y="2514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硬さ（HBW）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092440" y="2514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180〜230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601200" y="2551176"/>
            <a:ext cx="1920240" cy="182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01200" y="2551176"/>
            <a:ext cx="144018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63640" y="2971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熱伝導率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09244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W/m·K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601200" y="3008376"/>
            <a:ext cx="1920240" cy="182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3008376"/>
            <a:ext cx="1248156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80760" y="3657600"/>
            <a:ext cx="5760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263640" y="3794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品質保証体制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6172200" y="4251960"/>
            <a:ext cx="3474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7220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583680" y="42885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受入検査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8275320" y="4288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溶湯成分分析（発光分析装置）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172200" y="4672584"/>
            <a:ext cx="3474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72200" y="4672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6583680" y="4709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鋳造品検査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8275320" y="4709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超音波探傷試験（UT）全数実施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6172200" y="5093208"/>
            <a:ext cx="3474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72200" y="5093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6583680" y="51297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寸法検査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8275320" y="51297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三次元測定機による全数確認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6172200" y="5513832"/>
            <a:ext cx="3474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72200" y="5513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6583680" y="5550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表面処理確認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8275320" y="55504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膜厚計による全面検査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6172200" y="5934456"/>
            <a:ext cx="3474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72200" y="5934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6583680" y="5971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最終検査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8275320" y="5971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平面度・ねじ精度・外観 全数確認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製造株式会社　|　GHC-500 製品説明資料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製造工程フロー・納期・お問い合わせ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製造工程フロー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234440" cy="1234440"/>
          </a:xfrm>
          <a:prstGeom prst="rect">
            <a:avLst/>
          </a:prstGeom>
          <a:solidFill>
            <a:srgbClr val="36454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904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溶湯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成分確認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発光分析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81912" y="2084832"/>
            <a:ext cx="164592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64792" y="1463040"/>
            <a:ext cx="1234440" cy="1234440"/>
          </a:xfrm>
          <a:prstGeom prst="rect">
            <a:avLst/>
          </a:prstGeom>
          <a:solidFill>
            <a:srgbClr val="36454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64792" y="14904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64792" y="176479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砂型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鋳造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64792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型温管理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26664" y="2084832"/>
            <a:ext cx="164592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9544" y="1463040"/>
            <a:ext cx="1234440" cy="1234440"/>
          </a:xfrm>
          <a:prstGeom prst="rect">
            <a:avLst/>
          </a:prstGeom>
          <a:solidFill>
            <a:srgbClr val="36454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9544" y="14904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9544" y="176479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外観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9544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全数目視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71416" y="2084832"/>
            <a:ext cx="164592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296" y="1463040"/>
            <a:ext cx="1234440" cy="1234440"/>
          </a:xfrm>
          <a:prstGeom prst="rect">
            <a:avLst/>
          </a:prstGeom>
          <a:solidFill>
            <a:srgbClr val="36454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54296" y="14904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176479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超音波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54296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UT全数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16168" y="2084832"/>
            <a:ext cx="164592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9048" y="1463040"/>
            <a:ext cx="1234440" cy="1234440"/>
          </a:xfrm>
          <a:prstGeom prst="rect">
            <a:avLst/>
          </a:prstGeom>
          <a:solidFill>
            <a:srgbClr val="36454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99048" y="14904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99048" y="176479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9048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MC4軸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60920" y="2084832"/>
            <a:ext cx="164592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43800" y="1463040"/>
            <a:ext cx="1234440" cy="1234440"/>
          </a:xfrm>
          <a:prstGeom prst="rect">
            <a:avLst/>
          </a:prstGeom>
          <a:solidFill>
            <a:srgbClr val="36454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543800" y="14904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176479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三次元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測定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43800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全数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805672" y="2084832"/>
            <a:ext cx="164592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88552" y="1463040"/>
            <a:ext cx="1234440" cy="1234440"/>
          </a:xfrm>
          <a:prstGeom prst="rect">
            <a:avLst/>
          </a:prstGeom>
          <a:solidFill>
            <a:srgbClr val="36454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988552" y="14904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88552" y="176479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塗装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88552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膜厚確認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250424" y="2084832"/>
            <a:ext cx="164592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33304" y="1463040"/>
            <a:ext cx="1234440" cy="1234440"/>
          </a:xfrm>
          <a:prstGeom prst="rect">
            <a:avLst/>
          </a:prstGeom>
          <a:solidFill>
            <a:srgbClr val="36454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0433304" y="14904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433304" y="176479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検査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433304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出荷判定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2926080"/>
            <a:ext cx="3657600" cy="1828800"/>
          </a:xfrm>
          <a:prstGeom prst="rect">
            <a:avLst/>
          </a:prstGeom>
          <a:solidFill>
            <a:srgbClr val="36454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2920" y="3017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リードタイム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初回：6〜8週間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2920" y="385876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量産安定後: 4〜6週間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（在庫品は即納対応可）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51960" y="2926080"/>
            <a:ext cx="3657600" cy="1828800"/>
          </a:xfrm>
          <a:prstGeom prst="rect">
            <a:avLst/>
          </a:prstGeom>
          <a:solidFill>
            <a:srgbClr val="1C2526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434840" y="3017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最小発注数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43484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試作: 5個〜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4434840" y="385876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量産: 100個〜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個別対応可（要相談）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183880" y="2926080"/>
            <a:ext cx="3657600" cy="1828800"/>
          </a:xfrm>
          <a:prstGeom prst="rect">
            <a:avLst/>
          </a:prstGeom>
          <a:solidFill>
            <a:srgbClr val="36454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366760" y="3017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カスタム対応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6676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形状・材質変更可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366760" y="385876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図面支給歓迎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CATAデータ提出可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4892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認証・適合規格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65760" y="5321808"/>
            <a:ext cx="242316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5321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 G 5501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017520" y="5321808"/>
            <a:ext cx="242316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0" y="5321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 Z 2345（UT）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669280" y="5321808"/>
            <a:ext cx="242316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0" y="5321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RoHS2.0 対応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321040" y="5321808"/>
            <a:ext cx="242316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21040" y="5321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品質管理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315200" y="4754880"/>
            <a:ext cx="4572000" cy="1691640"/>
          </a:xfrm>
          <a:prstGeom prst="rect">
            <a:avLst/>
          </a:prstGeom>
          <a:solidFill>
            <a:srgbClr val="36454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498080" y="48920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7498080" y="528523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技術部：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tech@manufacturing.co.jp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Tel：03-XXXX-XXXX（営業部）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製造株式会社　|　GHC-500 製品説明資料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GHC-500 ギアハウジングカバー 製品説明資料</dc:title>
  <dc:subject>PptxGenJS Presentation</dc:subject>
  <dc:creator>製造株式会社</dc:creator>
  <cp:lastModifiedBy>製造株式会社</cp:lastModifiedBy>
  <cp:revision>1</cp:revision>
  <dcterms:created xsi:type="dcterms:W3CDTF">2026-04-06T04:00:32Z</dcterms:created>
  <dcterms:modified xsi:type="dcterms:W3CDTF">2026-04-06T04:00:32Z</dcterms:modified>
</cp:coreProperties>
</file>