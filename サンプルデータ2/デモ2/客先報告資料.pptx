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000"/>
                </a:solidFill>
              </a:rPr>
              <a:t>客先報告資料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HPX-500型高圧油圧ユニット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不具合対応報告書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A000"/>
                </a:solidFill>
              </a:rPr>
              <a:t>高圧シール微小漏れ問題に対する根本原因分析および是正処置報告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テクゼロン株式会社　第2設計部 / 品質保証部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2024年6月20日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2743200" cy="822960"/>
          </a:xfrm>
          <a:prstGeom prst="rect">
            <a:avLst/>
          </a:prstGeom>
          <a:solidFill>
            <a:srgbClr val="3A0000"/>
          </a:solidFill>
          <a:ln w="12700">
            <a:solidFill>
              <a:srgbClr val="C8A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000"/>
                </a:solidFill>
              </a:rPr>
              <a:t>文書番号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8D-HPX500-2024-011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4114800"/>
            <a:ext cx="2743200" cy="822960"/>
          </a:xfrm>
          <a:prstGeom prst="rect">
            <a:avLst/>
          </a:prstGeom>
          <a:solidFill>
            <a:srgbClr val="3A0000"/>
          </a:solidFill>
          <a:ln w="12700">
            <a:solidFill>
              <a:srgbClr val="C8A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000"/>
                </a:solidFill>
              </a:rPr>
              <a:t>図番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4434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HPX500-B000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4114800"/>
            <a:ext cx="2743200" cy="822960"/>
          </a:xfrm>
          <a:prstGeom prst="rect">
            <a:avLst/>
          </a:prstGeom>
          <a:solidFill>
            <a:srgbClr val="3A0000"/>
          </a:solidFill>
          <a:ln w="12700">
            <a:solidFill>
              <a:srgbClr val="C8A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000"/>
                </a:solidFill>
              </a:rPr>
              <a:t>顧客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4434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XYZ重工業株式会社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35440" y="4114800"/>
            <a:ext cx="2743200" cy="822960"/>
          </a:xfrm>
          <a:prstGeom prst="rect">
            <a:avLst/>
          </a:prstGeom>
          <a:solidFill>
            <a:srgbClr val="3A0000"/>
          </a:solidFill>
          <a:ln w="12700">
            <a:solidFill>
              <a:srgbClr val="C8A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000"/>
                </a:solidFill>
              </a:rPr>
              <a:t>報告者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235440" y="4434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中村 健（第2設計部）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エグゼクティブサマリー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669280" cy="1463040"/>
          </a:xfrm>
          <a:prstGeom prst="rect">
            <a:avLst/>
          </a:prstGeom>
          <a:solidFill>
            <a:srgbClr val="FFECEC"/>
          </a:solidFill>
          <a:ln w="19050">
            <a:solidFill>
              <a:srgbClr val="7B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57200" cy="1463040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0000"/>
                </a:solidFill>
              </a:rPr>
              <a:t>不具合概要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2024年2月8日、HPX-500（稼働後50h）にて高圧シール部から微小漏れ発生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漏れ量0.3mL/h（規格値0mL/h超過）、XYZ重工業様高圧設備停止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005840"/>
            <a:ext cx="5669280" cy="1463040"/>
          </a:xfrm>
          <a:prstGeom prst="rect">
            <a:avLst/>
          </a:prstGeom>
          <a:solidFill>
            <a:srgbClr val="FFF3E0"/>
          </a:solidFill>
          <a:ln w="19050">
            <a:solidFill>
              <a:srgbClr val="6B35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005840"/>
            <a:ext cx="457200" cy="1463040"/>
          </a:xfrm>
          <a:prstGeom prst="rect">
            <a:avLst/>
          </a:prstGeom>
          <a:solidFill>
            <a:srgbClr val="6B3500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500"/>
                </a:solidFill>
              </a:rPr>
              <a:t>根本原因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0" y="1508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高圧シール組付治具の摩耗管理基準が未制定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エッジ摩耗量の定量基準なく、摩耗治具を使用継続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5669280" cy="1463040"/>
          </a:xfrm>
          <a:prstGeom prst="rect">
            <a:avLst/>
          </a:prstGeom>
          <a:solidFill>
            <a:srgbClr val="EBF5FF"/>
          </a:solidFill>
          <a:ln w="19050">
            <a:solidFill>
              <a:srgbClr val="00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651760"/>
            <a:ext cx="457200" cy="1463040"/>
          </a:xfrm>
          <a:prstGeom prst="rect">
            <a:avLst/>
          </a:prstGeom>
          <a:solidFill>
            <a:srgbClr val="00508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080"/>
                </a:solidFill>
              </a:rPr>
              <a:t>是正処置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1546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治具摩耗管理基準制定・週次定量計測開始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FFKM高圧シール採用・組付クリーン化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651760"/>
            <a:ext cx="5669280" cy="1463040"/>
          </a:xfrm>
          <a:prstGeom prst="rect">
            <a:avLst/>
          </a:prstGeom>
          <a:solidFill>
            <a:srgbClr val="EFFFEF"/>
          </a:solidFill>
          <a:ln w="19050">
            <a:solidFill>
              <a:srgbClr val="006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651760"/>
            <a:ext cx="457200" cy="1463040"/>
          </a:xfrm>
          <a:prstGeom prst="rect">
            <a:avLst/>
          </a:prstGeom>
          <a:solidFill>
            <a:srgbClr val="006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000"/>
                </a:solidFill>
              </a:rPr>
              <a:t>効果確認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31546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1,000時間耐久試験合格（漏れ0mL/h）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顧客承認完了（2024年6月10日）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29768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0000"/>
                </a:solidFill>
              </a:rPr>
              <a:t>本件は恒久対策・水平展開完了。高圧製品全機種への展開済み。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問題の発生経緯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1247120" cy="548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920240"/>
            <a:ext cx="365760" cy="365760"/>
          </a:xfrm>
          <a:prstGeom prst="ellipse">
            <a:avLst/>
          </a:prstGeom>
          <a:solidFill>
            <a:srgbClr val="0050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080"/>
                </a:solidFill>
              </a:rPr>
              <a:t>2024.1.20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080"/>
                </a:solidFill>
              </a:rPr>
              <a:t>出荷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1737360" cy="1371600"/>
          </a:xfrm>
          <a:prstGeom prst="rect">
            <a:avLst/>
          </a:prstGeom>
          <a:solidFill>
            <a:srgbClr val="F8F8F8"/>
          </a:solidFill>
          <a:ln w="12700">
            <a:solidFill>
              <a:srgbClr val="005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HPX-500（SN-2024-0042）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出荷前耐圧試験合格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XYZ重工業様へ納品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0" y="1920240"/>
            <a:ext cx="365760" cy="365760"/>
          </a:xfrm>
          <a:prstGeom prst="ellipse">
            <a:avLst/>
          </a:prstGeom>
          <a:solidFill>
            <a:srgbClr val="7B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0000"/>
                </a:solidFill>
              </a:rPr>
              <a:t>2024.2.8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0000"/>
                </a:solidFill>
              </a:rPr>
              <a:t>不具合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23160" y="2468880"/>
            <a:ext cx="1737360" cy="1371600"/>
          </a:xfrm>
          <a:prstGeom prst="rect">
            <a:avLst/>
          </a:prstGeom>
          <a:solidFill>
            <a:srgbClr val="F8F8F8"/>
          </a:solidFill>
          <a:ln w="12700">
            <a:solidFill>
              <a:srgbClr val="7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5146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稼働後50時間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高圧シール微小漏れ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0.3mL/h検出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1920240"/>
            <a:ext cx="365760" cy="365760"/>
          </a:xfrm>
          <a:prstGeom prst="ellipse">
            <a:avLst/>
          </a:prstGeom>
          <a:solidFill>
            <a:srgbClr val="B85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5000"/>
                </a:solidFill>
              </a:rPr>
              <a:t>2024.2.9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00"/>
                </a:solidFill>
              </a:rPr>
              <a:t>暫定対策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2468880"/>
            <a:ext cx="1737360" cy="1371600"/>
          </a:xfrm>
          <a:prstGeom prst="rect">
            <a:avLst/>
          </a:prstGeom>
          <a:solidFill>
            <a:srgbClr val="F8F8F8"/>
          </a:solidFill>
          <a:ln w="12700">
            <a:solidFill>
              <a:srgbClr val="B85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5146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シール緊急交換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同ロット4台点検開始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1920240"/>
            <a:ext cx="365760" cy="365760"/>
          </a:xfrm>
          <a:prstGeom prst="ellipse">
            <a:avLst/>
          </a:prstGeom>
          <a:solidFill>
            <a:srgbClr val="6B00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0080"/>
                </a:solidFill>
              </a:rPr>
              <a:t>2024.2.15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0080"/>
                </a:solidFill>
              </a:rPr>
              <a:t>原因特定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2468880"/>
            <a:ext cx="1737360" cy="1371600"/>
          </a:xfrm>
          <a:prstGeom prst="rect">
            <a:avLst/>
          </a:prstGeom>
          <a:solidFill>
            <a:srgbClr val="F8F8F8"/>
          </a:solidFill>
          <a:ln w="12700">
            <a:solidFill>
              <a:srgbClr val="6B0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5146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治具摩耗を根本原因と特定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断面観察・マイクロスコープ確認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778240" y="1920240"/>
            <a:ext cx="365760" cy="365760"/>
          </a:xfrm>
          <a:prstGeom prst="ellipse">
            <a:avLst/>
          </a:prstGeom>
          <a:solidFill>
            <a:srgbClr val="006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000"/>
                </a:solidFill>
              </a:rPr>
              <a:t>2024.3.1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3816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000"/>
                </a:solidFill>
              </a:rPr>
              <a:t>恒久対策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83880" y="2468880"/>
            <a:ext cx="1737360" cy="1371600"/>
          </a:xfrm>
          <a:prstGeom prst="rect">
            <a:avLst/>
          </a:prstGeom>
          <a:solidFill>
            <a:srgbClr val="F8F8F8"/>
          </a:solidFill>
          <a:ln w="12700">
            <a:solidFill>
              <a:srgbClr val="006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25146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治具管理基準制定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FFKM採用・クリーン化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698480" y="1920240"/>
            <a:ext cx="365760" cy="365760"/>
          </a:xfrm>
          <a:prstGeom prst="ellipse">
            <a:avLst/>
          </a:prstGeom>
          <a:solidFill>
            <a:srgbClr val="006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000"/>
                </a:solidFill>
              </a:rPr>
              <a:t>2024.6.10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000"/>
                </a:solidFill>
              </a:rPr>
              <a:t>顧客承認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104120" y="2468880"/>
            <a:ext cx="1737360" cy="1371600"/>
          </a:xfrm>
          <a:prstGeom prst="rect">
            <a:avLst/>
          </a:prstGeom>
          <a:solidFill>
            <a:srgbClr val="F8F8F8"/>
          </a:solidFill>
          <a:ln w="12700">
            <a:solidFill>
              <a:srgbClr val="006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49840" y="25146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1,000h耐久試験合格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顧客承認・報告完了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根本原因分析　なぜなぜ5回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463040" cy="502920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なぜ1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914400"/>
            <a:ext cx="9966960" cy="502920"/>
          </a:xfrm>
          <a:prstGeom prst="rect">
            <a:avLst/>
          </a:prstGeom>
          <a:solidFill>
            <a:srgbClr val="F8F8F8"/>
          </a:solidFill>
          <a:ln w="12700">
            <a:solidFill>
              <a:srgbClr val="7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94183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高圧シール部から作動油が微小漏れした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1417320"/>
            <a:ext cx="54864" cy="155448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572768"/>
            <a:ext cx="1463040" cy="50292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5727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なぜ2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1572768"/>
            <a:ext cx="9966960" cy="502920"/>
          </a:xfrm>
          <a:prstGeom prst="rect">
            <a:avLst/>
          </a:prstGeom>
          <a:solidFill>
            <a:srgbClr val="F8F8F8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600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シール座面に微細な傷が存在し密封性が損なわれていた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2075688"/>
            <a:ext cx="54864" cy="155448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231136"/>
            <a:ext cx="1463040" cy="502920"/>
          </a:xfrm>
          <a:prstGeom prst="rect">
            <a:avLst/>
          </a:prstGeom>
          <a:solidFill>
            <a:srgbClr val="A040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23113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なぜ3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20240" y="2231136"/>
            <a:ext cx="9966960" cy="502920"/>
          </a:xfrm>
          <a:prstGeom prst="rect">
            <a:avLst/>
          </a:prstGeom>
          <a:solidFill>
            <a:srgbClr val="F8F8F8"/>
          </a:solidFill>
          <a:ln w="12700">
            <a:solidFill>
              <a:srgbClr val="A04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2585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シール組付治具のエッジ部が摩耗しシール圧入時に傷付けた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" y="2734056"/>
            <a:ext cx="54864" cy="155448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889504"/>
            <a:ext cx="1463040" cy="502920"/>
          </a:xfrm>
          <a:prstGeom prst="rect">
            <a:avLst/>
          </a:prstGeom>
          <a:solidFill>
            <a:srgbClr val="B0603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88950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なぜ4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20240" y="2889504"/>
            <a:ext cx="9966960" cy="502920"/>
          </a:xfrm>
          <a:prstGeom prst="rect">
            <a:avLst/>
          </a:prstGeom>
          <a:solidFill>
            <a:srgbClr val="F8F8F8"/>
          </a:solidFill>
          <a:ln w="12700">
            <a:solidFill>
              <a:srgbClr val="B06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291693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治具の点検基準が目視のみで定量管理されていなかった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5840" y="3392424"/>
            <a:ext cx="54864" cy="155448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3547872"/>
            <a:ext cx="1463040" cy="502920"/>
          </a:xfrm>
          <a:prstGeom prst="rect">
            <a:avLst/>
          </a:prstGeom>
          <a:solidFill>
            <a:srgbClr val="6B008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5478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なぜ5（根本原因）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20240" y="3547872"/>
            <a:ext cx="9966960" cy="502920"/>
          </a:xfrm>
          <a:prstGeom prst="rect">
            <a:avLst/>
          </a:prstGeom>
          <a:solidFill>
            <a:srgbClr val="F3E5FB"/>
          </a:solidFill>
          <a:ln w="25400">
            <a:solidFill>
              <a:srgbClr val="6B0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357530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080"/>
                </a:solidFill>
              </a:rPr>
              <a:t>高圧シール専用治具の摩耗管理基準（交換判定値）が未制定であった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4297680"/>
            <a:ext cx="11612880" cy="548640"/>
          </a:xfrm>
          <a:prstGeom prst="rect">
            <a:avLst/>
          </a:prstGeom>
          <a:solidFill>
            <a:srgbClr val="6B008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2976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根本原因: 高圧シール専用治具の摩耗管理基準が未制定 → 摩耗した治具での組付けが継続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是正処置と効果確認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0000"/>
                </a:solidFill>
              </a:rPr>
              <a:t>是正処置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486400" cy="594360"/>
          </a:xfrm>
          <a:prstGeom prst="rect">
            <a:avLst/>
          </a:prstGeom>
          <a:solidFill>
            <a:srgbClr val="FFEBEE"/>
          </a:solidFill>
          <a:ln w="6350">
            <a:solidFill>
              <a:srgbClr val="7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07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0000"/>
                </a:solidFill>
              </a:rPr>
              <a:t>2024.3.1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307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治具摩耗管理基準制定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エッジR≦0.05mm で交換　週次定量計測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7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933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0000"/>
                </a:solidFill>
              </a:rPr>
              <a:t>2024.3.15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9933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マイクロスコープ導入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2860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治具エッジ摩耗量を定量計測・記録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5486400" cy="594360"/>
          </a:xfrm>
          <a:prstGeom prst="rect">
            <a:avLst/>
          </a:prstGeom>
          <a:solidFill>
            <a:srgbClr val="FFEBEE"/>
          </a:solidFill>
          <a:ln w="6350">
            <a:solidFill>
              <a:srgbClr val="7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791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0000"/>
                </a:solidFill>
              </a:rPr>
              <a:t>2024.4.1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2679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組付エリアクリーン化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971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クリーン度クラス10,000相当に格上げ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7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64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0000"/>
                </a:solidFill>
              </a:rPr>
              <a:t>2024.4.15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3364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</a:rPr>
              <a:t>シール材質変更 FKM→FFKM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3657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設計変更ECN-2024-032 耐圧耐久性向上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000"/>
                </a:solidFill>
              </a:rPr>
              <a:t>効果確認結果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1234440"/>
            <a:ext cx="5669280" cy="1645920"/>
          </a:xfrm>
          <a:prstGeom prst="rect">
            <a:avLst/>
          </a:prstGeom>
          <a:solidFill>
            <a:srgbClr val="EFFFEF"/>
          </a:solidFill>
          <a:ln w="19050">
            <a:solidFill>
              <a:srgbClr val="007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00"/>
                </a:solidFill>
              </a:rPr>
              <a:t>1,000時間耐久試験（2024.4.1〜5.31）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漏れ量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17373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00"/>
                </a:solidFill>
              </a:rPr>
              <a:t>0 mL/h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332720" y="17373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00"/>
                </a:solidFill>
              </a:rPr>
              <a:t>規格0mL/h　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1214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シール状態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0" y="21214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00"/>
                </a:solidFill>
              </a:rPr>
              <a:t>傷なし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332720" y="21214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00"/>
                </a:solidFill>
              </a:rPr>
              <a:t>断面観察確認　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25054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治具摩耗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0" y="250545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00"/>
                </a:solidFill>
              </a:rPr>
              <a:t>管理値内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332720" y="250545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00"/>
                </a:solidFill>
              </a:rPr>
              <a:t>週次計測　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3017520"/>
            <a:ext cx="5669280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7B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063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0000"/>
                </a:solidFill>
              </a:rPr>
              <a:t>水平展開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33832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HP-280H / HPX-700の治具管理基準への展開完了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社内規格TZ-STD-2024-018制定・全工場適用済み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C8A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A000"/>
                </a:solidFill>
              </a:rPr>
              <a:t>今後のお約束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高圧製品品質の継続的改善へのコミットメント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1645920"/>
          </a:xfrm>
          <a:prstGeom prst="rect">
            <a:avLst/>
          </a:prstGeom>
          <a:solidFill>
            <a:srgbClr val="3A0000"/>
          </a:solidFill>
          <a:ln w="12700">
            <a:solidFill>
              <a:srgbClr val="C8A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1600200"/>
            <a:ext cx="457200" cy="457200"/>
          </a:xfrm>
          <a:prstGeom prst="ellipse">
            <a:avLst/>
          </a:prstGeom>
          <a:solidFill>
            <a:srgbClr val="C8A000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0000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治具管理の全工程標準化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高圧製品全機種の組付治具に定量管理基準を制定・展開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657600" cy="1645920"/>
          </a:xfrm>
          <a:prstGeom prst="rect">
            <a:avLst/>
          </a:prstGeom>
          <a:solidFill>
            <a:srgbClr val="3A0000"/>
          </a:solidFill>
          <a:ln w="12700">
            <a:solidFill>
              <a:srgbClr val="C8A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1600200"/>
            <a:ext cx="457200" cy="457200"/>
          </a:xfrm>
          <a:prstGeom prst="ellipse">
            <a:avLst/>
          </a:prstGeom>
          <a:solidFill>
            <a:srgbClr val="C8A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0000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1920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高圧設計FMEAの強化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24688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今回の教訓をもとに高圧シール関連リスクをFMEAに追加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657600" cy="1645920"/>
          </a:xfrm>
          <a:prstGeom prst="rect">
            <a:avLst/>
          </a:prstGeom>
          <a:solidFill>
            <a:srgbClr val="3A0000"/>
          </a:solidFill>
          <a:ln w="12700">
            <a:solidFill>
              <a:srgbClr val="C8A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55480" y="1600200"/>
            <a:ext cx="457200" cy="457200"/>
          </a:xfrm>
          <a:prstGeom prst="ellipse">
            <a:avLst/>
          </a:prstGeom>
          <a:solidFill>
            <a:srgbClr val="C8A000"/>
          </a:solidFill>
          <a:ln/>
        </p:spPr>
      </p:sp>
      <p:sp>
        <p:nvSpPr>
          <p:cNvPr id="17" name="Text 15"/>
          <p:cNvSpPr/>
          <p:nvPr/>
        </p:nvSpPr>
        <p:spPr>
          <a:xfrm>
            <a:off x="95554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0000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1920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月次品質報告の継続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75320" y="24688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今後6ヶ月間、月次でHPX-500品質状況をご報告予定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ご不明点がございましたら、担当: 中村 健（第2設計部）までご連絡ください。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000"/>
                </a:solidFill>
              </a:rPr>
              <a:t>tekunzeron-quality@tekzeron.co.jp　　Tel: 06-XXXX-XXXX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2026-04-06T12:51:09Z</dcterms:created>
  <dcterms:modified xsi:type="dcterms:W3CDTF">2026-04-06T12:51:09Z</dcterms:modified>
</cp:coreProperties>
</file>