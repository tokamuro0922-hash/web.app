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不良率(%)</c:v>
                </c:pt>
              </c:strCache>
            </c:strRef>
          </c:tx>
          <c:spPr>
            <a:solidFill>
              <a:srgbClr val="C62828"/>
            </a:solidFill>
            <a:effectLst/>
          </c:spPr>
          <c:invertIfNegative val="0"/>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dPt>
            <c:idx val="0"/>
            <c:invertIfNegative val="0"/>
            <c:bubble3D val="0"/>
            <c:spPr>
              <a:solidFill>
                <a:srgbClr val="C62828"/>
              </a:solidFill>
              <a:effectLst/>
            </c:spPr>
          </c:dPt>
          <c:dPt>
            <c:idx val="1"/>
            <c:invertIfNegative val="0"/>
            <c:bubble3D val="0"/>
            <c:spPr>
              <a:solidFill>
                <a:srgbClr val="E65100"/>
              </a:solidFill>
              <a:effectLst/>
            </c:spPr>
          </c:dPt>
          <c:dPt>
            <c:idx val="2"/>
            <c:invertIfNegative val="0"/>
            <c:bubble3D val="0"/>
            <c:spPr>
              <a:solidFill>
                <a:srgbClr val="E65100"/>
              </a:solidFill>
              <a:effectLst/>
            </c:spPr>
          </c:dPt>
          <c:dPt>
            <c:idx val="3"/>
            <c:invertIfNegative val="0"/>
            <c:bubble3D val="0"/>
            <c:spPr>
              <a:solidFill>
                <a:srgbClr val="1B5E20"/>
              </a:solidFill>
              <a:effectLst/>
            </c:spPr>
          </c:dPt>
          <c:cat>
            <c:multiLvlStrRef>
              <c:f>Sheet1!$A$2:$A$5</c:f>
              <c:multiLvlStrCache>
                <c:ptCount val="4"/>
                <c:lvl>
                  <c:pt idx="0">
                    <c:v>処置前
2月</c:v>
                  </c:pt>
                  <c:pt idx="1">
                    <c:v>暫定後
3/1-7</c:v>
                  </c:pt>
                  <c:pt idx="2">
                    <c:v>恒久後
3/8-15</c:v>
                  </c:pt>
                  <c:pt idx="3">
                    <c:v>恒久後
3/16-31</c:v>
                  </c:pt>
                </c:lvl>
              </c:multiLvlStrCache>
            </c:multiLvlStrRef>
          </c:cat>
          <c:val>
            <c:numRef>
              <c:f>Sheet1!$B$2:$B$5</c:f>
              <c:numCache>
                <c:formatCode>General</c:formatCode>
                <c:ptCount val="4"/>
                <c:pt idx="0">
                  <c:v>7.5</c:v>
                </c:pt>
                <c:pt idx="1">
                  <c:v>3.2</c:v>
                </c:pt>
                <c:pt idx="2">
                  <c:v>0.8</c:v>
                </c:pt>
                <c:pt idx="3">
                  <c:v>0.2</c:v>
                </c:pt>
              </c:numCache>
            </c:numRef>
          </c:val>
        </c:ser>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3A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C757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6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A3A5C"/>
          </a:solidFill>
          <a:ln w="12700">
            <a:solidFill>
              <a:srgbClr val="1A3A5C"/>
            </a:solidFill>
            <a:prstDash val="solid"/>
          </a:ln>
        </p:spPr>
      </p:sp>
      <p:sp>
        <p:nvSpPr>
          <p:cNvPr id="3" name="Shape 1"/>
          <p:cNvSpPr/>
          <p:nvPr/>
        </p:nvSpPr>
        <p:spPr>
          <a:xfrm>
            <a:off x="0" y="0"/>
            <a:ext cx="109728" cy="914400"/>
          </a:xfrm>
          <a:prstGeom prst="rect">
            <a:avLst/>
          </a:prstGeom>
          <a:solidFill>
            <a:srgbClr val="C62828"/>
          </a:solidFill>
          <a:ln w="12700">
            <a:solidFill>
              <a:srgbClr val="C62828"/>
            </a:solidFill>
            <a:prstDash val="solid"/>
          </a:ln>
        </p:spPr>
      </p:sp>
      <p:sp>
        <p:nvSpPr>
          <p:cNvPr id="4" name="Text 2"/>
          <p:cNvSpPr/>
          <p:nvPr/>
        </p:nvSpPr>
        <p:spPr>
          <a:xfrm>
            <a:off x="201168" y="36576"/>
            <a:ext cx="4572000" cy="365760"/>
          </a:xfrm>
          <a:prstGeom prst="rect">
            <a:avLst/>
          </a:prstGeom>
          <a:noFill/>
          <a:ln/>
        </p:spPr>
        <p:txBody>
          <a:bodyPr wrap="square" rtlCol="0" anchor="ctr"/>
          <a:lstStyle/>
          <a:p>
            <a:pPr indent="0" marL="0">
              <a:buNone/>
            </a:pPr>
            <a:r>
              <a:rPr lang="en-US" sz="1100" dirty="0">
                <a:solidFill>
                  <a:srgbClr val="D6E4F0"/>
                </a:solidFill>
                <a:latin typeface="Calibri" pitchFamily="34" charset="0"/>
                <a:ea typeface="Calibri" pitchFamily="34" charset="-122"/>
                <a:cs typeface="Calibri" pitchFamily="34" charset="-120"/>
              </a:rPr>
              <a:t>8D レポート</a:t>
            </a:r>
            <a:endParaRPr lang="en-US" sz="1100" dirty="0"/>
          </a:p>
        </p:txBody>
      </p:sp>
      <p:sp>
        <p:nvSpPr>
          <p:cNvPr id="5" name="Text 3"/>
          <p:cNvSpPr/>
          <p:nvPr/>
        </p:nvSpPr>
        <p:spPr>
          <a:xfrm>
            <a:off x="201168" y="384048"/>
            <a:ext cx="8686800" cy="47548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温度センサーユニット XS-500 測定値ドリフト不良（顧客クレーム）</a:t>
            </a:r>
            <a:endParaRPr lang="en-US" sz="1800" dirty="0"/>
          </a:p>
        </p:txBody>
      </p:sp>
      <p:sp>
        <p:nvSpPr>
          <p:cNvPr id="6" name="Text 4"/>
          <p:cNvSpPr/>
          <p:nvPr/>
        </p:nvSpPr>
        <p:spPr>
          <a:xfrm>
            <a:off x="8961120" y="91440"/>
            <a:ext cx="3108960" cy="685800"/>
          </a:xfrm>
          <a:prstGeom prst="rect">
            <a:avLst/>
          </a:prstGeom>
          <a:noFill/>
          <a:ln/>
        </p:spPr>
        <p:txBody>
          <a:bodyPr wrap="square" rtlCol="0" anchor="ctr"/>
          <a:lstStyle/>
          <a:p>
            <a:pPr algn="r" indent="0" marL="0">
              <a:buNone/>
            </a:pPr>
            <a:r>
              <a:rPr lang="en-US" sz="800" dirty="0">
                <a:solidFill>
                  <a:srgbClr val="D6E4F0"/>
                </a:solidFill>
                <a:latin typeface="Calibri" pitchFamily="34" charset="0"/>
                <a:ea typeface="Calibri" pitchFamily="34" charset="-122"/>
                <a:cs typeface="Calibri" pitchFamily="34" charset="-120"/>
              </a:rPr>
              <a:t>文書番号: 8D-2025-001　Rev.B　</a:t>
            </a:r>
            <a:endParaRPr lang="en-US" sz="800" dirty="0"/>
          </a:p>
          <a:p>
            <a:pPr algn="r" indent="0" marL="0">
              <a:buNone/>
            </a:pPr>
            <a:r>
              <a:rPr lang="en-US" sz="800" dirty="0">
                <a:solidFill>
                  <a:srgbClr val="D6E4F0"/>
                </a:solidFill>
                <a:latin typeface="Calibri" pitchFamily="34" charset="0"/>
                <a:ea typeface="Calibri" pitchFamily="34" charset="-122"/>
                <a:cs typeface="Calibri" pitchFamily="34" charset="-120"/>
              </a:rPr>
              <a:t>発行日: 2025年4月5日　製造株式会社</a:t>
            </a:r>
            <a:endParaRPr lang="en-US" sz="800" dirty="0"/>
          </a:p>
        </p:txBody>
      </p:sp>
      <p:sp>
        <p:nvSpPr>
          <p:cNvPr id="7" name="Shape 5"/>
          <p:cNvSpPr/>
          <p:nvPr/>
        </p:nvSpPr>
        <p:spPr>
          <a:xfrm>
            <a:off x="9966960" y="621792"/>
            <a:ext cx="1645920" cy="256032"/>
          </a:xfrm>
          <a:prstGeom prst="roundRect">
            <a:avLst>
              <a:gd name="adj" fmla="val 17857"/>
            </a:avLst>
          </a:prstGeom>
          <a:solidFill>
            <a:srgbClr val="1B5E20"/>
          </a:solidFill>
          <a:ln w="12700">
            <a:solidFill>
              <a:srgbClr val="1B5E20"/>
            </a:solidFill>
            <a:prstDash val="solid"/>
          </a:ln>
        </p:spPr>
      </p:sp>
      <p:sp>
        <p:nvSpPr>
          <p:cNvPr id="8" name="Text 6"/>
          <p:cNvSpPr/>
          <p:nvPr/>
        </p:nvSpPr>
        <p:spPr>
          <a:xfrm>
            <a:off x="9966960" y="621792"/>
            <a:ext cx="164592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クローズ済</a:t>
            </a:r>
            <a:endParaRPr lang="en-US" sz="800" dirty="0"/>
          </a:p>
        </p:txBody>
      </p:sp>
      <p:sp>
        <p:nvSpPr>
          <p:cNvPr id="9" name="Shape 7"/>
          <p:cNvSpPr/>
          <p:nvPr/>
        </p:nvSpPr>
        <p:spPr>
          <a:xfrm>
            <a:off x="0" y="6565392"/>
            <a:ext cx="12188952" cy="292608"/>
          </a:xfrm>
          <a:prstGeom prst="rect">
            <a:avLst/>
          </a:prstGeom>
          <a:solidFill>
            <a:srgbClr val="1A3A5C"/>
          </a:solidFill>
          <a:ln w="12700">
            <a:solidFill>
              <a:srgbClr val="1A3A5C"/>
            </a:solidFill>
            <a:prstDash val="solid"/>
          </a:ln>
        </p:spPr>
      </p:sp>
      <p:sp>
        <p:nvSpPr>
          <p:cNvPr id="10" name="Text 8"/>
          <p:cNvSpPr/>
          <p:nvPr/>
        </p:nvSpPr>
        <p:spPr>
          <a:xfrm>
            <a:off x="182880" y="6583680"/>
            <a:ext cx="8229600" cy="256032"/>
          </a:xfrm>
          <a:prstGeom prst="rect">
            <a:avLst/>
          </a:prstGeom>
          <a:noFill/>
          <a:ln/>
        </p:spPr>
        <p:txBody>
          <a:bodyPr wrap="square" rtlCol="0" anchor="ctr"/>
          <a:lstStyle/>
          <a:p>
            <a:pPr indent="0" marL="0">
              <a:buNone/>
            </a:pPr>
            <a:r>
              <a:rPr lang="en-US" sz="700" dirty="0">
                <a:solidFill>
                  <a:srgbClr val="D6E4F0"/>
                </a:solidFill>
                <a:latin typeface="Calibri" pitchFamily="34" charset="0"/>
                <a:ea typeface="Calibri" pitchFamily="34" charset="-122"/>
                <a:cs typeface="Calibri" pitchFamily="34" charset="-120"/>
              </a:rPr>
              <a:t>© 製造株式会社　このドキュメントは社外秘です。</a:t>
            </a:r>
            <a:endParaRPr lang="en-US" sz="700" dirty="0"/>
          </a:p>
        </p:txBody>
      </p:sp>
      <p:sp>
        <p:nvSpPr>
          <p:cNvPr id="11" name="Text 9"/>
          <p:cNvSpPr/>
          <p:nvPr/>
        </p:nvSpPr>
        <p:spPr>
          <a:xfrm>
            <a:off x="11274552" y="6583680"/>
            <a:ext cx="731520" cy="256032"/>
          </a:xfrm>
          <a:prstGeom prst="rect">
            <a:avLst/>
          </a:prstGeom>
          <a:noFill/>
          <a:ln/>
        </p:spPr>
        <p:txBody>
          <a:bodyPr wrap="square" rtlCol="0" anchor="ctr"/>
          <a:lstStyle/>
          <a:p>
            <a:pPr algn="r" indent="0" marL="0">
              <a:buNone/>
            </a:pPr>
            <a:r>
              <a:rPr lang="en-US" sz="700" dirty="0">
                <a:solidFill>
                  <a:srgbClr val="D6E4F0"/>
                </a:solidFill>
                <a:latin typeface="Calibri" pitchFamily="34" charset="0"/>
                <a:ea typeface="Calibri" pitchFamily="34" charset="-122"/>
                <a:cs typeface="Calibri" pitchFamily="34" charset="-120"/>
              </a:rPr>
              <a:t>1 / 4</a:t>
            </a:r>
            <a:endParaRPr lang="en-US" sz="700" dirty="0"/>
          </a:p>
        </p:txBody>
      </p:sp>
      <p:sp>
        <p:nvSpPr>
          <p:cNvPr id="12" name="Shape 10"/>
          <p:cNvSpPr/>
          <p:nvPr/>
        </p:nvSpPr>
        <p:spPr>
          <a:xfrm>
            <a:off x="274320" y="1005840"/>
            <a:ext cx="5303520" cy="329184"/>
          </a:xfrm>
          <a:prstGeom prst="rect">
            <a:avLst/>
          </a:prstGeom>
          <a:solidFill>
            <a:srgbClr val="C62828"/>
          </a:solidFill>
          <a:ln w="12700">
            <a:solidFill>
              <a:srgbClr val="C62828"/>
            </a:solidFill>
            <a:prstDash val="solid"/>
          </a:ln>
        </p:spPr>
      </p:sp>
      <p:sp>
        <p:nvSpPr>
          <p:cNvPr id="13" name="Shape 11"/>
          <p:cNvSpPr/>
          <p:nvPr/>
        </p:nvSpPr>
        <p:spPr>
          <a:xfrm>
            <a:off x="329184" y="1051560"/>
            <a:ext cx="512064" cy="237744"/>
          </a:xfrm>
          <a:prstGeom prst="roundRect">
            <a:avLst>
              <a:gd name="adj" fmla="val 30769"/>
            </a:avLst>
          </a:prstGeom>
          <a:solidFill>
            <a:srgbClr val="FFFFFF"/>
          </a:solidFill>
          <a:ln w="12700">
            <a:solidFill>
              <a:srgbClr val="FFFFFF"/>
            </a:solidFill>
            <a:prstDash val="solid"/>
          </a:ln>
        </p:spPr>
      </p:sp>
      <p:sp>
        <p:nvSpPr>
          <p:cNvPr id="14" name="Text 12"/>
          <p:cNvSpPr/>
          <p:nvPr/>
        </p:nvSpPr>
        <p:spPr>
          <a:xfrm>
            <a:off x="329184" y="1051560"/>
            <a:ext cx="512064" cy="237744"/>
          </a:xfrm>
          <a:prstGeom prst="rect">
            <a:avLst/>
          </a:prstGeom>
          <a:noFill/>
          <a:ln/>
        </p:spPr>
        <p:txBody>
          <a:bodyPr wrap="square" rtlCol="0" anchor="ctr"/>
          <a:lstStyle/>
          <a:p>
            <a:pPr algn="ctr" indent="0" marL="0">
              <a:buNone/>
            </a:pPr>
            <a:r>
              <a:rPr lang="en-US" sz="900" b="1" dirty="0">
                <a:solidFill>
                  <a:srgbClr val="C62828"/>
                </a:solidFill>
                <a:latin typeface="Calibri" pitchFamily="34" charset="0"/>
                <a:ea typeface="Calibri" pitchFamily="34" charset="-122"/>
                <a:cs typeface="Calibri" pitchFamily="34" charset="-120"/>
              </a:rPr>
              <a:t>D0</a:t>
            </a:r>
            <a:endParaRPr lang="en-US" sz="900" dirty="0"/>
          </a:p>
        </p:txBody>
      </p:sp>
      <p:sp>
        <p:nvSpPr>
          <p:cNvPr id="15" name="Text 13"/>
          <p:cNvSpPr/>
          <p:nvPr/>
        </p:nvSpPr>
        <p:spPr>
          <a:xfrm>
            <a:off x="896112" y="1060704"/>
            <a:ext cx="4626864"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問題の概要・緊急対応</a:t>
            </a:r>
            <a:endParaRPr lang="en-US" sz="1100" dirty="0"/>
          </a:p>
        </p:txBody>
      </p:sp>
      <p:sp>
        <p:nvSpPr>
          <p:cNvPr id="16" name="Shape 14"/>
          <p:cNvSpPr/>
          <p:nvPr/>
        </p:nvSpPr>
        <p:spPr>
          <a:xfrm>
            <a:off x="274320" y="1389888"/>
            <a:ext cx="1463040" cy="274320"/>
          </a:xfrm>
          <a:prstGeom prst="rect">
            <a:avLst/>
          </a:prstGeom>
          <a:solidFill>
            <a:srgbClr val="D6E4F0"/>
          </a:solidFill>
          <a:ln w="3810">
            <a:solidFill>
              <a:srgbClr val="2E75B6"/>
            </a:solidFill>
            <a:prstDash val="solid"/>
          </a:ln>
        </p:spPr>
      </p:sp>
      <p:sp>
        <p:nvSpPr>
          <p:cNvPr id="17" name="Text 15"/>
          <p:cNvSpPr/>
          <p:nvPr/>
        </p:nvSpPr>
        <p:spPr>
          <a:xfrm>
            <a:off x="329184" y="1389888"/>
            <a:ext cx="138988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発生日時</a:t>
            </a:r>
            <a:endParaRPr lang="en-US" sz="850" dirty="0"/>
          </a:p>
        </p:txBody>
      </p:sp>
      <p:sp>
        <p:nvSpPr>
          <p:cNvPr id="18" name="Shape 16"/>
          <p:cNvSpPr/>
          <p:nvPr/>
        </p:nvSpPr>
        <p:spPr>
          <a:xfrm>
            <a:off x="1737360" y="1389888"/>
            <a:ext cx="3822192" cy="274320"/>
          </a:xfrm>
          <a:prstGeom prst="rect">
            <a:avLst/>
          </a:prstGeom>
          <a:solidFill>
            <a:srgbClr val="F0F6FF"/>
          </a:solidFill>
          <a:ln w="3810">
            <a:solidFill>
              <a:srgbClr val="2E75B6"/>
            </a:solidFill>
            <a:prstDash val="solid"/>
          </a:ln>
        </p:spPr>
      </p:sp>
      <p:sp>
        <p:nvSpPr>
          <p:cNvPr id="19" name="Text 17"/>
          <p:cNvSpPr/>
          <p:nvPr/>
        </p:nvSpPr>
        <p:spPr>
          <a:xfrm>
            <a:off x="1792224" y="1389888"/>
            <a:ext cx="37307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2025年2月28日 14:30</a:t>
            </a:r>
            <a:endParaRPr lang="en-US" sz="850" dirty="0"/>
          </a:p>
        </p:txBody>
      </p:sp>
      <p:sp>
        <p:nvSpPr>
          <p:cNvPr id="20" name="Shape 18"/>
          <p:cNvSpPr/>
          <p:nvPr/>
        </p:nvSpPr>
        <p:spPr>
          <a:xfrm>
            <a:off x="274320" y="1682496"/>
            <a:ext cx="1463040" cy="274320"/>
          </a:xfrm>
          <a:prstGeom prst="rect">
            <a:avLst/>
          </a:prstGeom>
          <a:solidFill>
            <a:srgbClr val="D6E4F0"/>
          </a:solidFill>
          <a:ln w="3810">
            <a:solidFill>
              <a:srgbClr val="2E75B6"/>
            </a:solidFill>
            <a:prstDash val="solid"/>
          </a:ln>
        </p:spPr>
      </p:sp>
      <p:sp>
        <p:nvSpPr>
          <p:cNvPr id="21" name="Text 19"/>
          <p:cNvSpPr/>
          <p:nvPr/>
        </p:nvSpPr>
        <p:spPr>
          <a:xfrm>
            <a:off x="329184" y="1682496"/>
            <a:ext cx="138988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顧客・場所</a:t>
            </a:r>
            <a:endParaRPr lang="en-US" sz="850" dirty="0"/>
          </a:p>
        </p:txBody>
      </p:sp>
      <p:sp>
        <p:nvSpPr>
          <p:cNvPr id="22" name="Shape 20"/>
          <p:cNvSpPr/>
          <p:nvPr/>
        </p:nvSpPr>
        <p:spPr>
          <a:xfrm>
            <a:off x="1737360" y="1682496"/>
            <a:ext cx="3822192" cy="274320"/>
          </a:xfrm>
          <a:prstGeom prst="rect">
            <a:avLst/>
          </a:prstGeom>
          <a:solidFill>
            <a:srgbClr val="F0F6FF"/>
          </a:solidFill>
          <a:ln w="3810">
            <a:solidFill>
              <a:srgbClr val="2E75B6"/>
            </a:solidFill>
            <a:prstDash val="solid"/>
          </a:ln>
        </p:spPr>
      </p:sp>
      <p:sp>
        <p:nvSpPr>
          <p:cNvPr id="23" name="Text 21"/>
          <p:cNvSpPr/>
          <p:nvPr/>
        </p:nvSpPr>
        <p:spPr>
          <a:xfrm>
            <a:off x="1792224" y="1682496"/>
            <a:ext cx="37307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オートモーティブ株式会社（製造ライン A-3）</a:t>
            </a:r>
            <a:endParaRPr lang="en-US" sz="850" dirty="0"/>
          </a:p>
        </p:txBody>
      </p:sp>
      <p:sp>
        <p:nvSpPr>
          <p:cNvPr id="24" name="Shape 22"/>
          <p:cNvSpPr/>
          <p:nvPr/>
        </p:nvSpPr>
        <p:spPr>
          <a:xfrm>
            <a:off x="274320" y="1975104"/>
            <a:ext cx="1463040" cy="274320"/>
          </a:xfrm>
          <a:prstGeom prst="rect">
            <a:avLst/>
          </a:prstGeom>
          <a:solidFill>
            <a:srgbClr val="D6E4F0"/>
          </a:solidFill>
          <a:ln w="3810">
            <a:solidFill>
              <a:srgbClr val="2E75B6"/>
            </a:solidFill>
            <a:prstDash val="solid"/>
          </a:ln>
        </p:spPr>
      </p:sp>
      <p:sp>
        <p:nvSpPr>
          <p:cNvPr id="25" name="Text 23"/>
          <p:cNvSpPr/>
          <p:nvPr/>
        </p:nvSpPr>
        <p:spPr>
          <a:xfrm>
            <a:off x="329184" y="1975104"/>
            <a:ext cx="138988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製品・図番</a:t>
            </a:r>
            <a:endParaRPr lang="en-US" sz="850" dirty="0"/>
          </a:p>
        </p:txBody>
      </p:sp>
      <p:sp>
        <p:nvSpPr>
          <p:cNvPr id="26" name="Shape 24"/>
          <p:cNvSpPr/>
          <p:nvPr/>
        </p:nvSpPr>
        <p:spPr>
          <a:xfrm>
            <a:off x="1737360" y="1975104"/>
            <a:ext cx="3822192" cy="274320"/>
          </a:xfrm>
          <a:prstGeom prst="rect">
            <a:avLst/>
          </a:prstGeom>
          <a:solidFill>
            <a:srgbClr val="F0F6FF"/>
          </a:solidFill>
          <a:ln w="3810">
            <a:solidFill>
              <a:srgbClr val="2E75B6"/>
            </a:solidFill>
            <a:prstDash val="solid"/>
          </a:ln>
        </p:spPr>
      </p:sp>
      <p:sp>
        <p:nvSpPr>
          <p:cNvPr id="27" name="Text 25"/>
          <p:cNvSpPr/>
          <p:nvPr/>
        </p:nvSpPr>
        <p:spPr>
          <a:xfrm>
            <a:off x="1792224" y="1975104"/>
            <a:ext cx="37307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XS-500 温度センサーユニット / XS500-BODY-001</a:t>
            </a:r>
            <a:endParaRPr lang="en-US" sz="850" dirty="0"/>
          </a:p>
        </p:txBody>
      </p:sp>
      <p:sp>
        <p:nvSpPr>
          <p:cNvPr id="28" name="Shape 26"/>
          <p:cNvSpPr/>
          <p:nvPr/>
        </p:nvSpPr>
        <p:spPr>
          <a:xfrm>
            <a:off x="274320" y="2267712"/>
            <a:ext cx="5285232" cy="685800"/>
          </a:xfrm>
          <a:prstGeom prst="rect">
            <a:avLst/>
          </a:prstGeom>
          <a:solidFill>
            <a:srgbClr val="F0F6FF"/>
          </a:solidFill>
          <a:ln w="3810">
            <a:solidFill>
              <a:srgbClr val="2E75B6"/>
            </a:solidFill>
            <a:prstDash val="solid"/>
          </a:ln>
        </p:spPr>
      </p:sp>
      <p:sp>
        <p:nvSpPr>
          <p:cNvPr id="29" name="Text 27"/>
          <p:cNvSpPr/>
          <p:nvPr/>
        </p:nvSpPr>
        <p:spPr>
          <a:xfrm>
            <a:off x="329184" y="2295144"/>
            <a:ext cx="5193792" cy="182880"/>
          </a:xfrm>
          <a:prstGeom prst="rect">
            <a:avLst/>
          </a:prstGeom>
          <a:noFill/>
          <a:ln/>
        </p:spPr>
        <p:txBody>
          <a:bodyPr wrap="square" rtlCol="0" anchor="ctr"/>
          <a:lstStyle/>
          <a:p>
            <a:pPr indent="0" marL="0">
              <a:buNone/>
            </a:pPr>
            <a:r>
              <a:rPr lang="en-US" sz="750" b="1" dirty="0">
                <a:solidFill>
                  <a:srgbClr val="1A3A5C"/>
                </a:solidFill>
                <a:latin typeface="Calibri" pitchFamily="34" charset="0"/>
                <a:ea typeface="Calibri" pitchFamily="34" charset="-122"/>
                <a:cs typeface="Calibri" pitchFamily="34" charset="-120"/>
              </a:rPr>
              <a:t>概要・緊急対応</a:t>
            </a:r>
            <a:endParaRPr lang="en-US" sz="750" dirty="0"/>
          </a:p>
        </p:txBody>
      </p:sp>
      <p:sp>
        <p:nvSpPr>
          <p:cNvPr id="30" name="Text 28"/>
          <p:cNvSpPr/>
          <p:nvPr/>
        </p:nvSpPr>
        <p:spPr>
          <a:xfrm>
            <a:off x="347472" y="2468880"/>
            <a:ext cx="5157216" cy="448056"/>
          </a:xfrm>
          <a:prstGeom prst="rect">
            <a:avLst/>
          </a:prstGeom>
          <a:noFill/>
          <a:ln/>
        </p:spPr>
        <p:txBody>
          <a:bodyPr wrap="square" rtlCol="0" anchor="t"/>
          <a:lstStyle/>
          <a:p>
            <a:pPr indent="0" marL="0">
              <a:buNone/>
            </a:pPr>
            <a:r>
              <a:rPr lang="en-US" sz="850" dirty="0">
                <a:solidFill>
                  <a:srgbClr val="1A1A1A"/>
                </a:solidFill>
                <a:latin typeface="Calibri" pitchFamily="34" charset="0"/>
                <a:ea typeface="Calibri" pitchFamily="34" charset="-122"/>
                <a:cs typeface="Calibri" pitchFamily="34" charset="-120"/>
              </a:rPr>
              <a:t>顧客ラインにて温度測定値が実際値より平均+2.3℃ドリフトする事象が発生。生産中の製品15個が規格外となりラインが一時停止。緊急対応として該当ロットを全数隔離し、代替センサーを手配。</a:t>
            </a:r>
            <a:endParaRPr lang="en-US" sz="850" dirty="0"/>
          </a:p>
        </p:txBody>
      </p:sp>
      <p:sp>
        <p:nvSpPr>
          <p:cNvPr id="31" name="Shape 29"/>
          <p:cNvSpPr/>
          <p:nvPr/>
        </p:nvSpPr>
        <p:spPr>
          <a:xfrm>
            <a:off x="5760720" y="1005840"/>
            <a:ext cx="6126480" cy="329184"/>
          </a:xfrm>
          <a:prstGeom prst="rect">
            <a:avLst/>
          </a:prstGeom>
          <a:solidFill>
            <a:srgbClr val="1A3A5C"/>
          </a:solidFill>
          <a:ln w="12700">
            <a:solidFill>
              <a:srgbClr val="1A3A5C"/>
            </a:solidFill>
            <a:prstDash val="solid"/>
          </a:ln>
        </p:spPr>
      </p:sp>
      <p:sp>
        <p:nvSpPr>
          <p:cNvPr id="32" name="Shape 30"/>
          <p:cNvSpPr/>
          <p:nvPr/>
        </p:nvSpPr>
        <p:spPr>
          <a:xfrm>
            <a:off x="5815584" y="1051560"/>
            <a:ext cx="512064" cy="237744"/>
          </a:xfrm>
          <a:prstGeom prst="roundRect">
            <a:avLst>
              <a:gd name="adj" fmla="val 30769"/>
            </a:avLst>
          </a:prstGeom>
          <a:solidFill>
            <a:srgbClr val="FFFFFF"/>
          </a:solidFill>
          <a:ln w="12700">
            <a:solidFill>
              <a:srgbClr val="FFFFFF"/>
            </a:solidFill>
            <a:prstDash val="solid"/>
          </a:ln>
        </p:spPr>
      </p:sp>
      <p:sp>
        <p:nvSpPr>
          <p:cNvPr id="33" name="Text 31"/>
          <p:cNvSpPr/>
          <p:nvPr/>
        </p:nvSpPr>
        <p:spPr>
          <a:xfrm>
            <a:off x="5815584" y="1051560"/>
            <a:ext cx="512064" cy="237744"/>
          </a:xfrm>
          <a:prstGeom prst="rect">
            <a:avLst/>
          </a:prstGeom>
          <a:noFill/>
          <a:ln/>
        </p:spPr>
        <p:txBody>
          <a:bodyPr wrap="square" rtlCol="0" anchor="ctr"/>
          <a:lstStyle/>
          <a:p>
            <a:pPr algn="ctr" indent="0" marL="0">
              <a:buNone/>
            </a:pPr>
            <a:r>
              <a:rPr lang="en-US" sz="900" b="1" dirty="0">
                <a:solidFill>
                  <a:srgbClr val="1A3A5C"/>
                </a:solidFill>
                <a:latin typeface="Calibri" pitchFamily="34" charset="0"/>
                <a:ea typeface="Calibri" pitchFamily="34" charset="-122"/>
                <a:cs typeface="Calibri" pitchFamily="34" charset="-120"/>
              </a:rPr>
              <a:t>D1</a:t>
            </a:r>
            <a:endParaRPr lang="en-US" sz="900" dirty="0"/>
          </a:p>
        </p:txBody>
      </p:sp>
      <p:sp>
        <p:nvSpPr>
          <p:cNvPr id="34" name="Text 32"/>
          <p:cNvSpPr/>
          <p:nvPr/>
        </p:nvSpPr>
        <p:spPr>
          <a:xfrm>
            <a:off x="6382512" y="1060704"/>
            <a:ext cx="5449824"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チーム編成（Team Formation）</a:t>
            </a:r>
            <a:endParaRPr lang="en-US" sz="1100" dirty="0"/>
          </a:p>
        </p:txBody>
      </p:sp>
      <p:sp>
        <p:nvSpPr>
          <p:cNvPr id="35" name="Shape 33"/>
          <p:cNvSpPr/>
          <p:nvPr/>
        </p:nvSpPr>
        <p:spPr>
          <a:xfrm>
            <a:off x="5760720" y="1389888"/>
            <a:ext cx="1371600" cy="274320"/>
          </a:xfrm>
          <a:prstGeom prst="rect">
            <a:avLst/>
          </a:prstGeom>
          <a:solidFill>
            <a:srgbClr val="D6E4F0"/>
          </a:solidFill>
          <a:ln w="3810">
            <a:solidFill>
              <a:srgbClr val="2E75B6"/>
            </a:solidFill>
            <a:prstDash val="solid"/>
          </a:ln>
        </p:spPr>
      </p:sp>
      <p:sp>
        <p:nvSpPr>
          <p:cNvPr id="36" name="Text 34"/>
          <p:cNvSpPr/>
          <p:nvPr/>
        </p:nvSpPr>
        <p:spPr>
          <a:xfrm>
            <a:off x="5815584" y="1389888"/>
            <a:ext cx="129844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リーダー</a:t>
            </a:r>
            <a:endParaRPr lang="en-US" sz="850" dirty="0"/>
          </a:p>
        </p:txBody>
      </p:sp>
      <p:sp>
        <p:nvSpPr>
          <p:cNvPr id="37" name="Shape 35"/>
          <p:cNvSpPr/>
          <p:nvPr/>
        </p:nvSpPr>
        <p:spPr>
          <a:xfrm>
            <a:off x="7132320" y="1389888"/>
            <a:ext cx="4736592" cy="274320"/>
          </a:xfrm>
          <a:prstGeom prst="rect">
            <a:avLst/>
          </a:prstGeom>
          <a:solidFill>
            <a:srgbClr val="F0F6FF"/>
          </a:solidFill>
          <a:ln w="3810">
            <a:solidFill>
              <a:srgbClr val="2E75B6"/>
            </a:solidFill>
            <a:prstDash val="solid"/>
          </a:ln>
        </p:spPr>
      </p:sp>
      <p:sp>
        <p:nvSpPr>
          <p:cNvPr id="38" name="Text 36"/>
          <p:cNvSpPr/>
          <p:nvPr/>
        </p:nvSpPr>
        <p:spPr>
          <a:xfrm>
            <a:off x="7187184" y="1389888"/>
            <a:ext cx="46451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田中 太郎（品質保証部 QA課長）</a:t>
            </a:r>
            <a:endParaRPr lang="en-US" sz="850" dirty="0"/>
          </a:p>
        </p:txBody>
      </p:sp>
      <p:sp>
        <p:nvSpPr>
          <p:cNvPr id="39" name="Shape 37"/>
          <p:cNvSpPr/>
          <p:nvPr/>
        </p:nvSpPr>
        <p:spPr>
          <a:xfrm>
            <a:off x="5760720" y="1682496"/>
            <a:ext cx="1371600" cy="274320"/>
          </a:xfrm>
          <a:prstGeom prst="rect">
            <a:avLst/>
          </a:prstGeom>
          <a:solidFill>
            <a:srgbClr val="D6E4F0"/>
          </a:solidFill>
          <a:ln w="3810">
            <a:solidFill>
              <a:srgbClr val="2E75B6"/>
            </a:solidFill>
            <a:prstDash val="solid"/>
          </a:ln>
        </p:spPr>
      </p:sp>
      <p:sp>
        <p:nvSpPr>
          <p:cNvPr id="40" name="Text 38"/>
          <p:cNvSpPr/>
          <p:nvPr/>
        </p:nvSpPr>
        <p:spPr>
          <a:xfrm>
            <a:off x="5815584" y="1682496"/>
            <a:ext cx="129844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メンバー</a:t>
            </a:r>
            <a:endParaRPr lang="en-US" sz="850" dirty="0"/>
          </a:p>
        </p:txBody>
      </p:sp>
      <p:sp>
        <p:nvSpPr>
          <p:cNvPr id="41" name="Shape 39"/>
          <p:cNvSpPr/>
          <p:nvPr/>
        </p:nvSpPr>
        <p:spPr>
          <a:xfrm>
            <a:off x="7132320" y="1682496"/>
            <a:ext cx="4736592" cy="274320"/>
          </a:xfrm>
          <a:prstGeom prst="rect">
            <a:avLst/>
          </a:prstGeom>
          <a:solidFill>
            <a:srgbClr val="F0F6FF"/>
          </a:solidFill>
          <a:ln w="3810">
            <a:solidFill>
              <a:srgbClr val="2E75B6"/>
            </a:solidFill>
            <a:prstDash val="solid"/>
          </a:ln>
        </p:spPr>
      </p:sp>
      <p:sp>
        <p:nvSpPr>
          <p:cNvPr id="42" name="Text 40"/>
          <p:cNvSpPr/>
          <p:nvPr/>
        </p:nvSpPr>
        <p:spPr>
          <a:xfrm>
            <a:off x="7187184" y="1682496"/>
            <a:ext cx="46451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鈴木 花子（開発）、佐藤 次郎（製造）、高橋 三郎（品証）、渡辺 四郎（営業）</a:t>
            </a:r>
            <a:endParaRPr lang="en-US" sz="850" dirty="0"/>
          </a:p>
        </p:txBody>
      </p:sp>
      <p:sp>
        <p:nvSpPr>
          <p:cNvPr id="43" name="Shape 41"/>
          <p:cNvSpPr/>
          <p:nvPr/>
        </p:nvSpPr>
        <p:spPr>
          <a:xfrm>
            <a:off x="5760720" y="1975104"/>
            <a:ext cx="1371600" cy="274320"/>
          </a:xfrm>
          <a:prstGeom prst="rect">
            <a:avLst/>
          </a:prstGeom>
          <a:solidFill>
            <a:srgbClr val="D6E4F0"/>
          </a:solidFill>
          <a:ln w="3810">
            <a:solidFill>
              <a:srgbClr val="2E75B6"/>
            </a:solidFill>
            <a:prstDash val="solid"/>
          </a:ln>
        </p:spPr>
      </p:sp>
      <p:sp>
        <p:nvSpPr>
          <p:cNvPr id="44" name="Text 42"/>
          <p:cNvSpPr/>
          <p:nvPr/>
        </p:nvSpPr>
        <p:spPr>
          <a:xfrm>
            <a:off x="5815584" y="1975104"/>
            <a:ext cx="129844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発足日</a:t>
            </a:r>
            <a:endParaRPr lang="en-US" sz="850" dirty="0"/>
          </a:p>
        </p:txBody>
      </p:sp>
      <p:sp>
        <p:nvSpPr>
          <p:cNvPr id="45" name="Shape 43"/>
          <p:cNvSpPr/>
          <p:nvPr/>
        </p:nvSpPr>
        <p:spPr>
          <a:xfrm>
            <a:off x="7132320" y="1975104"/>
            <a:ext cx="4736592" cy="274320"/>
          </a:xfrm>
          <a:prstGeom prst="rect">
            <a:avLst/>
          </a:prstGeom>
          <a:solidFill>
            <a:srgbClr val="F0F6FF"/>
          </a:solidFill>
          <a:ln w="3810">
            <a:solidFill>
              <a:srgbClr val="2E75B6"/>
            </a:solidFill>
            <a:prstDash val="solid"/>
          </a:ln>
        </p:spPr>
      </p:sp>
      <p:sp>
        <p:nvSpPr>
          <p:cNvPr id="46" name="Text 44"/>
          <p:cNvSpPr/>
          <p:nvPr/>
        </p:nvSpPr>
        <p:spPr>
          <a:xfrm>
            <a:off x="7187184" y="1975104"/>
            <a:ext cx="46451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2025年3月1日</a:t>
            </a:r>
            <a:endParaRPr lang="en-US" sz="850" dirty="0"/>
          </a:p>
        </p:txBody>
      </p:sp>
      <p:sp>
        <p:nvSpPr>
          <p:cNvPr id="47" name="Shape 45"/>
          <p:cNvSpPr/>
          <p:nvPr/>
        </p:nvSpPr>
        <p:spPr>
          <a:xfrm>
            <a:off x="5760720" y="2267712"/>
            <a:ext cx="1371600" cy="274320"/>
          </a:xfrm>
          <a:prstGeom prst="rect">
            <a:avLst/>
          </a:prstGeom>
          <a:solidFill>
            <a:srgbClr val="D6E4F0"/>
          </a:solidFill>
          <a:ln w="3810">
            <a:solidFill>
              <a:srgbClr val="2E75B6"/>
            </a:solidFill>
            <a:prstDash val="solid"/>
          </a:ln>
        </p:spPr>
      </p:sp>
      <p:sp>
        <p:nvSpPr>
          <p:cNvPr id="48" name="Text 46"/>
          <p:cNvSpPr/>
          <p:nvPr/>
        </p:nvSpPr>
        <p:spPr>
          <a:xfrm>
            <a:off x="5815584" y="2267712"/>
            <a:ext cx="129844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スポンサー</a:t>
            </a:r>
            <a:endParaRPr lang="en-US" sz="850" dirty="0"/>
          </a:p>
        </p:txBody>
      </p:sp>
      <p:sp>
        <p:nvSpPr>
          <p:cNvPr id="49" name="Shape 47"/>
          <p:cNvSpPr/>
          <p:nvPr/>
        </p:nvSpPr>
        <p:spPr>
          <a:xfrm>
            <a:off x="7132320" y="2267712"/>
            <a:ext cx="4736592" cy="274320"/>
          </a:xfrm>
          <a:prstGeom prst="rect">
            <a:avLst/>
          </a:prstGeom>
          <a:solidFill>
            <a:srgbClr val="F0F6FF"/>
          </a:solidFill>
          <a:ln w="3810">
            <a:solidFill>
              <a:srgbClr val="2E75B6"/>
            </a:solidFill>
            <a:prstDash val="solid"/>
          </a:ln>
        </p:spPr>
      </p:sp>
      <p:sp>
        <p:nvSpPr>
          <p:cNvPr id="50" name="Text 48"/>
          <p:cNvSpPr/>
          <p:nvPr/>
        </p:nvSpPr>
        <p:spPr>
          <a:xfrm>
            <a:off x="7187184" y="2267712"/>
            <a:ext cx="46451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鈴木 部長（品質保証部長）</a:t>
            </a:r>
            <a:endParaRPr lang="en-US" sz="850" dirty="0"/>
          </a:p>
        </p:txBody>
      </p:sp>
      <p:sp>
        <p:nvSpPr>
          <p:cNvPr id="51" name="Shape 49"/>
          <p:cNvSpPr/>
          <p:nvPr/>
        </p:nvSpPr>
        <p:spPr>
          <a:xfrm>
            <a:off x="5760720" y="2560320"/>
            <a:ext cx="1371600" cy="274320"/>
          </a:xfrm>
          <a:prstGeom prst="rect">
            <a:avLst/>
          </a:prstGeom>
          <a:solidFill>
            <a:srgbClr val="D6E4F0"/>
          </a:solidFill>
          <a:ln w="3810">
            <a:solidFill>
              <a:srgbClr val="2E75B6"/>
            </a:solidFill>
            <a:prstDash val="solid"/>
          </a:ln>
        </p:spPr>
      </p:sp>
      <p:sp>
        <p:nvSpPr>
          <p:cNvPr id="52" name="Text 50"/>
          <p:cNvSpPr/>
          <p:nvPr/>
        </p:nvSpPr>
        <p:spPr>
          <a:xfrm>
            <a:off x="5815584" y="2560320"/>
            <a:ext cx="129844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最終報告期限</a:t>
            </a:r>
            <a:endParaRPr lang="en-US" sz="850" dirty="0"/>
          </a:p>
        </p:txBody>
      </p:sp>
      <p:sp>
        <p:nvSpPr>
          <p:cNvPr id="53" name="Shape 51"/>
          <p:cNvSpPr/>
          <p:nvPr/>
        </p:nvSpPr>
        <p:spPr>
          <a:xfrm>
            <a:off x="7132320" y="2560320"/>
            <a:ext cx="4736592" cy="274320"/>
          </a:xfrm>
          <a:prstGeom prst="rect">
            <a:avLst/>
          </a:prstGeom>
          <a:solidFill>
            <a:srgbClr val="F0F6FF"/>
          </a:solidFill>
          <a:ln w="3810">
            <a:solidFill>
              <a:srgbClr val="2E75B6"/>
            </a:solidFill>
            <a:prstDash val="solid"/>
          </a:ln>
        </p:spPr>
      </p:sp>
      <p:sp>
        <p:nvSpPr>
          <p:cNvPr id="54" name="Text 52"/>
          <p:cNvSpPr/>
          <p:nvPr/>
        </p:nvSpPr>
        <p:spPr>
          <a:xfrm>
            <a:off x="7187184" y="2560320"/>
            <a:ext cx="4645152"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2025年4月5日</a:t>
            </a:r>
            <a:endParaRPr lang="en-US" sz="850" dirty="0"/>
          </a:p>
        </p:txBody>
      </p:sp>
      <p:sp>
        <p:nvSpPr>
          <p:cNvPr id="55" name="Shape 53"/>
          <p:cNvSpPr/>
          <p:nvPr/>
        </p:nvSpPr>
        <p:spPr>
          <a:xfrm>
            <a:off x="5760720" y="2852928"/>
            <a:ext cx="6126480" cy="621792"/>
          </a:xfrm>
          <a:prstGeom prst="rect">
            <a:avLst/>
          </a:prstGeom>
          <a:solidFill>
            <a:srgbClr val="F0F6FF"/>
          </a:solidFill>
          <a:ln w="3810">
            <a:solidFill>
              <a:srgbClr val="2E75B6"/>
            </a:solidFill>
            <a:prstDash val="solid"/>
          </a:ln>
        </p:spPr>
      </p:sp>
      <p:sp>
        <p:nvSpPr>
          <p:cNvPr id="56" name="Text 54"/>
          <p:cNvSpPr/>
          <p:nvPr/>
        </p:nvSpPr>
        <p:spPr>
          <a:xfrm>
            <a:off x="5815584" y="2880360"/>
            <a:ext cx="6035040" cy="182880"/>
          </a:xfrm>
          <a:prstGeom prst="rect">
            <a:avLst/>
          </a:prstGeom>
          <a:noFill/>
          <a:ln/>
        </p:spPr>
        <p:txBody>
          <a:bodyPr wrap="square" rtlCol="0" anchor="ctr"/>
          <a:lstStyle/>
          <a:p>
            <a:pPr indent="0" marL="0">
              <a:buNone/>
            </a:pPr>
            <a:r>
              <a:rPr lang="en-US" sz="750" b="1" dirty="0">
                <a:solidFill>
                  <a:srgbClr val="1A3A5C"/>
                </a:solidFill>
                <a:latin typeface="Calibri" pitchFamily="34" charset="0"/>
                <a:ea typeface="Calibri" pitchFamily="34" charset="-122"/>
                <a:cs typeface="Calibri" pitchFamily="34" charset="-120"/>
              </a:rPr>
              <a:t>チームの役割・方針</a:t>
            </a:r>
            <a:endParaRPr lang="en-US" sz="750" dirty="0"/>
          </a:p>
        </p:txBody>
      </p:sp>
      <p:sp>
        <p:nvSpPr>
          <p:cNvPr id="57" name="Text 55"/>
          <p:cNvSpPr/>
          <p:nvPr/>
        </p:nvSpPr>
        <p:spPr>
          <a:xfrm>
            <a:off x="5833872" y="3054096"/>
            <a:ext cx="5998464" cy="384048"/>
          </a:xfrm>
          <a:prstGeom prst="rect">
            <a:avLst/>
          </a:prstGeom>
          <a:noFill/>
          <a:ln/>
        </p:spPr>
        <p:txBody>
          <a:bodyPr wrap="square" rtlCol="0" anchor="t"/>
          <a:lstStyle/>
          <a:p>
            <a:pPr indent="0" marL="0">
              <a:buNone/>
            </a:pPr>
            <a:r>
              <a:rPr lang="en-US" sz="850" dirty="0">
                <a:solidFill>
                  <a:srgbClr val="1A1A1A"/>
                </a:solidFill>
                <a:latin typeface="Calibri" pitchFamily="34" charset="0"/>
                <a:ea typeface="Calibri" pitchFamily="34" charset="-122"/>
                <a:cs typeface="Calibri" pitchFamily="34" charset="-120"/>
              </a:rPr>
              <a:t>品証・開発・製造・営業の横断チームで、根本原因特定から恒久対策・顧客報告まで一貫して対応。週次進捗レビューを実施。</a:t>
            </a:r>
            <a:endParaRPr lang="en-US" sz="850" dirty="0"/>
          </a:p>
        </p:txBody>
      </p:sp>
      <p:sp>
        <p:nvSpPr>
          <p:cNvPr id="58" name="Shape 56"/>
          <p:cNvSpPr/>
          <p:nvPr/>
        </p:nvSpPr>
        <p:spPr>
          <a:xfrm>
            <a:off x="274320" y="3072384"/>
            <a:ext cx="11640312" cy="329184"/>
          </a:xfrm>
          <a:prstGeom prst="rect">
            <a:avLst/>
          </a:prstGeom>
          <a:solidFill>
            <a:srgbClr val="2E75B6"/>
          </a:solidFill>
          <a:ln w="12700">
            <a:solidFill>
              <a:srgbClr val="2E75B6"/>
            </a:solidFill>
            <a:prstDash val="solid"/>
          </a:ln>
        </p:spPr>
      </p:sp>
      <p:sp>
        <p:nvSpPr>
          <p:cNvPr id="59" name="Shape 57"/>
          <p:cNvSpPr/>
          <p:nvPr/>
        </p:nvSpPr>
        <p:spPr>
          <a:xfrm>
            <a:off x="329184" y="3118104"/>
            <a:ext cx="512064" cy="237744"/>
          </a:xfrm>
          <a:prstGeom prst="roundRect">
            <a:avLst>
              <a:gd name="adj" fmla="val 30769"/>
            </a:avLst>
          </a:prstGeom>
          <a:solidFill>
            <a:srgbClr val="FFFFFF"/>
          </a:solidFill>
          <a:ln w="12700">
            <a:solidFill>
              <a:srgbClr val="FFFFFF"/>
            </a:solidFill>
            <a:prstDash val="solid"/>
          </a:ln>
        </p:spPr>
      </p:sp>
      <p:sp>
        <p:nvSpPr>
          <p:cNvPr id="60" name="Text 58"/>
          <p:cNvSpPr/>
          <p:nvPr/>
        </p:nvSpPr>
        <p:spPr>
          <a:xfrm>
            <a:off x="329184" y="3118104"/>
            <a:ext cx="512064" cy="237744"/>
          </a:xfrm>
          <a:prstGeom prst="rect">
            <a:avLst/>
          </a:prstGeom>
          <a:noFill/>
          <a:ln/>
        </p:spPr>
        <p:txBody>
          <a:bodyPr wrap="square" rtlCol="0" anchor="ctr"/>
          <a:lstStyle/>
          <a:p>
            <a:pPr algn="ctr" indent="0" marL="0">
              <a:buNone/>
            </a:pPr>
            <a:r>
              <a:rPr lang="en-US" sz="900" b="1" dirty="0">
                <a:solidFill>
                  <a:srgbClr val="2E75B6"/>
                </a:solidFill>
                <a:latin typeface="Calibri" pitchFamily="34" charset="0"/>
                <a:ea typeface="Calibri" pitchFamily="34" charset="-122"/>
                <a:cs typeface="Calibri" pitchFamily="34" charset="-120"/>
              </a:rPr>
              <a:t>D2</a:t>
            </a:r>
            <a:endParaRPr lang="en-US" sz="900" dirty="0"/>
          </a:p>
        </p:txBody>
      </p:sp>
      <p:sp>
        <p:nvSpPr>
          <p:cNvPr id="61" name="Text 59"/>
          <p:cNvSpPr/>
          <p:nvPr/>
        </p:nvSpPr>
        <p:spPr>
          <a:xfrm>
            <a:off x="896112" y="3127248"/>
            <a:ext cx="10963656"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問題の定義（Problem Description）</a:t>
            </a:r>
            <a:endParaRPr lang="en-US" sz="1100" dirty="0"/>
          </a:p>
        </p:txBody>
      </p:sp>
      <p:sp>
        <p:nvSpPr>
          <p:cNvPr id="62" name="Shape 60"/>
          <p:cNvSpPr/>
          <p:nvPr/>
        </p:nvSpPr>
        <p:spPr>
          <a:xfrm>
            <a:off x="274320" y="3456432"/>
            <a:ext cx="1463040" cy="274320"/>
          </a:xfrm>
          <a:prstGeom prst="rect">
            <a:avLst/>
          </a:prstGeom>
          <a:solidFill>
            <a:srgbClr val="D6E4F0"/>
          </a:solidFill>
          <a:ln w="3810">
            <a:solidFill>
              <a:srgbClr val="2E75B6"/>
            </a:solidFill>
            <a:prstDash val="solid"/>
          </a:ln>
        </p:spPr>
      </p:sp>
      <p:sp>
        <p:nvSpPr>
          <p:cNvPr id="63" name="Text 61"/>
          <p:cNvSpPr/>
          <p:nvPr/>
        </p:nvSpPr>
        <p:spPr>
          <a:xfrm>
            <a:off x="329184" y="3456432"/>
            <a:ext cx="138988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発生日時</a:t>
            </a:r>
            <a:endParaRPr lang="en-US" sz="850" dirty="0"/>
          </a:p>
        </p:txBody>
      </p:sp>
      <p:sp>
        <p:nvSpPr>
          <p:cNvPr id="64" name="Shape 62"/>
          <p:cNvSpPr/>
          <p:nvPr/>
        </p:nvSpPr>
        <p:spPr>
          <a:xfrm>
            <a:off x="1737360" y="3456432"/>
            <a:ext cx="3931920" cy="274320"/>
          </a:xfrm>
          <a:prstGeom prst="rect">
            <a:avLst/>
          </a:prstGeom>
          <a:solidFill>
            <a:srgbClr val="F0F6FF"/>
          </a:solidFill>
          <a:ln w="3810">
            <a:solidFill>
              <a:srgbClr val="2E75B6"/>
            </a:solidFill>
            <a:prstDash val="solid"/>
          </a:ln>
        </p:spPr>
      </p:sp>
      <p:sp>
        <p:nvSpPr>
          <p:cNvPr id="65" name="Text 63"/>
          <p:cNvSpPr/>
          <p:nvPr/>
        </p:nvSpPr>
        <p:spPr>
          <a:xfrm>
            <a:off x="1792224" y="3456432"/>
            <a:ext cx="3840480"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2025年2月28日（LOT-250228-A）</a:t>
            </a:r>
            <a:endParaRPr lang="en-US" sz="850" dirty="0"/>
          </a:p>
        </p:txBody>
      </p:sp>
      <p:sp>
        <p:nvSpPr>
          <p:cNvPr id="66" name="Shape 64"/>
          <p:cNvSpPr/>
          <p:nvPr/>
        </p:nvSpPr>
        <p:spPr>
          <a:xfrm>
            <a:off x="274320" y="3749040"/>
            <a:ext cx="1463040" cy="274320"/>
          </a:xfrm>
          <a:prstGeom prst="rect">
            <a:avLst/>
          </a:prstGeom>
          <a:solidFill>
            <a:srgbClr val="D6E4F0"/>
          </a:solidFill>
          <a:ln w="3810">
            <a:solidFill>
              <a:srgbClr val="2E75B6"/>
            </a:solidFill>
            <a:prstDash val="solid"/>
          </a:ln>
        </p:spPr>
      </p:sp>
      <p:sp>
        <p:nvSpPr>
          <p:cNvPr id="67" name="Text 65"/>
          <p:cNvSpPr/>
          <p:nvPr/>
        </p:nvSpPr>
        <p:spPr>
          <a:xfrm>
            <a:off x="329184" y="3749040"/>
            <a:ext cx="138988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発生場所・工程</a:t>
            </a:r>
            <a:endParaRPr lang="en-US" sz="850" dirty="0"/>
          </a:p>
        </p:txBody>
      </p:sp>
      <p:sp>
        <p:nvSpPr>
          <p:cNvPr id="68" name="Shape 66"/>
          <p:cNvSpPr/>
          <p:nvPr/>
        </p:nvSpPr>
        <p:spPr>
          <a:xfrm>
            <a:off x="1737360" y="3749040"/>
            <a:ext cx="3931920" cy="274320"/>
          </a:xfrm>
          <a:prstGeom prst="rect">
            <a:avLst/>
          </a:prstGeom>
          <a:solidFill>
            <a:srgbClr val="F0F6FF"/>
          </a:solidFill>
          <a:ln w="3810">
            <a:solidFill>
              <a:srgbClr val="2E75B6"/>
            </a:solidFill>
            <a:prstDash val="solid"/>
          </a:ln>
        </p:spPr>
      </p:sp>
      <p:sp>
        <p:nvSpPr>
          <p:cNvPr id="69" name="Text 67"/>
          <p:cNvSpPr/>
          <p:nvPr/>
        </p:nvSpPr>
        <p:spPr>
          <a:xfrm>
            <a:off x="1792224" y="3749040"/>
            <a:ext cx="3840480"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顧客工場 製造ライン A-3 品質検査工程</a:t>
            </a:r>
            <a:endParaRPr lang="en-US" sz="850" dirty="0"/>
          </a:p>
        </p:txBody>
      </p:sp>
      <p:sp>
        <p:nvSpPr>
          <p:cNvPr id="70" name="Shape 68"/>
          <p:cNvSpPr/>
          <p:nvPr/>
        </p:nvSpPr>
        <p:spPr>
          <a:xfrm>
            <a:off x="274320" y="4041648"/>
            <a:ext cx="1463040" cy="274320"/>
          </a:xfrm>
          <a:prstGeom prst="rect">
            <a:avLst/>
          </a:prstGeom>
          <a:solidFill>
            <a:srgbClr val="D6E4F0"/>
          </a:solidFill>
          <a:ln w="3810">
            <a:solidFill>
              <a:srgbClr val="2E75B6"/>
            </a:solidFill>
            <a:prstDash val="solid"/>
          </a:ln>
        </p:spPr>
      </p:sp>
      <p:sp>
        <p:nvSpPr>
          <p:cNvPr id="71" name="Text 69"/>
          <p:cNvSpPr/>
          <p:nvPr/>
        </p:nvSpPr>
        <p:spPr>
          <a:xfrm>
            <a:off x="329184" y="4041648"/>
            <a:ext cx="138988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不良数量</a:t>
            </a:r>
            <a:endParaRPr lang="en-US" sz="850" dirty="0"/>
          </a:p>
        </p:txBody>
      </p:sp>
      <p:sp>
        <p:nvSpPr>
          <p:cNvPr id="72" name="Shape 70"/>
          <p:cNvSpPr/>
          <p:nvPr/>
        </p:nvSpPr>
        <p:spPr>
          <a:xfrm>
            <a:off x="1737360" y="4041648"/>
            <a:ext cx="3931920" cy="274320"/>
          </a:xfrm>
          <a:prstGeom prst="rect">
            <a:avLst/>
          </a:prstGeom>
          <a:solidFill>
            <a:srgbClr val="F0F6FF"/>
          </a:solidFill>
          <a:ln w="3810">
            <a:solidFill>
              <a:srgbClr val="2E75B6"/>
            </a:solidFill>
            <a:prstDash val="solid"/>
          </a:ln>
        </p:spPr>
      </p:sp>
      <p:sp>
        <p:nvSpPr>
          <p:cNvPr id="73" name="Text 71"/>
          <p:cNvSpPr/>
          <p:nvPr/>
        </p:nvSpPr>
        <p:spPr>
          <a:xfrm>
            <a:off x="1792224" y="4041648"/>
            <a:ext cx="3840480"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不良品: 15個 / 検査数: 200個（不良率 7.5%）</a:t>
            </a:r>
            <a:endParaRPr lang="en-US" sz="850" dirty="0"/>
          </a:p>
        </p:txBody>
      </p:sp>
      <p:sp>
        <p:nvSpPr>
          <p:cNvPr id="74" name="Shape 72"/>
          <p:cNvSpPr/>
          <p:nvPr/>
        </p:nvSpPr>
        <p:spPr>
          <a:xfrm>
            <a:off x="274320" y="4334256"/>
            <a:ext cx="1463040" cy="274320"/>
          </a:xfrm>
          <a:prstGeom prst="rect">
            <a:avLst/>
          </a:prstGeom>
          <a:solidFill>
            <a:srgbClr val="D6E4F0"/>
          </a:solidFill>
          <a:ln w="3810">
            <a:solidFill>
              <a:srgbClr val="2E75B6"/>
            </a:solidFill>
            <a:prstDash val="solid"/>
          </a:ln>
        </p:spPr>
      </p:sp>
      <p:sp>
        <p:nvSpPr>
          <p:cNvPr id="75" name="Text 73"/>
          <p:cNvSpPr/>
          <p:nvPr/>
        </p:nvSpPr>
        <p:spPr>
          <a:xfrm>
            <a:off x="329184" y="4334256"/>
            <a:ext cx="138988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影響・リスク</a:t>
            </a:r>
            <a:endParaRPr lang="en-US" sz="850" dirty="0"/>
          </a:p>
        </p:txBody>
      </p:sp>
      <p:sp>
        <p:nvSpPr>
          <p:cNvPr id="76" name="Shape 74"/>
          <p:cNvSpPr/>
          <p:nvPr/>
        </p:nvSpPr>
        <p:spPr>
          <a:xfrm>
            <a:off x="1737360" y="4334256"/>
            <a:ext cx="3931920" cy="274320"/>
          </a:xfrm>
          <a:prstGeom prst="rect">
            <a:avLst/>
          </a:prstGeom>
          <a:solidFill>
            <a:srgbClr val="F0F6FF"/>
          </a:solidFill>
          <a:ln w="3810">
            <a:solidFill>
              <a:srgbClr val="2E75B6"/>
            </a:solidFill>
            <a:prstDash val="solid"/>
          </a:ln>
        </p:spPr>
      </p:sp>
      <p:sp>
        <p:nvSpPr>
          <p:cNvPr id="77" name="Text 75"/>
          <p:cNvSpPr/>
          <p:nvPr/>
        </p:nvSpPr>
        <p:spPr>
          <a:xfrm>
            <a:off x="1792224" y="4334256"/>
            <a:ext cx="3840480"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顧客ライン停止 3時間、損害額 推定 150万円、出荷保留 200個</a:t>
            </a:r>
            <a:endParaRPr lang="en-US" sz="850" dirty="0"/>
          </a:p>
        </p:txBody>
      </p:sp>
      <p:sp>
        <p:nvSpPr>
          <p:cNvPr id="78" name="Shape 76"/>
          <p:cNvSpPr/>
          <p:nvPr/>
        </p:nvSpPr>
        <p:spPr>
          <a:xfrm>
            <a:off x="5760720" y="3456432"/>
            <a:ext cx="6126480" cy="1207008"/>
          </a:xfrm>
          <a:prstGeom prst="rect">
            <a:avLst/>
          </a:prstGeom>
          <a:solidFill>
            <a:srgbClr val="F0F6FF"/>
          </a:solidFill>
          <a:ln w="3810">
            <a:solidFill>
              <a:srgbClr val="2E75B6"/>
            </a:solidFill>
            <a:prstDash val="solid"/>
          </a:ln>
        </p:spPr>
      </p:sp>
      <p:sp>
        <p:nvSpPr>
          <p:cNvPr id="79" name="Text 77"/>
          <p:cNvSpPr/>
          <p:nvPr/>
        </p:nvSpPr>
        <p:spPr>
          <a:xfrm>
            <a:off x="5815584" y="3483864"/>
            <a:ext cx="6035040" cy="182880"/>
          </a:xfrm>
          <a:prstGeom prst="rect">
            <a:avLst/>
          </a:prstGeom>
          <a:noFill/>
          <a:ln/>
        </p:spPr>
        <p:txBody>
          <a:bodyPr wrap="square" rtlCol="0" anchor="ctr"/>
          <a:lstStyle/>
          <a:p>
            <a:pPr indent="0" marL="0">
              <a:buNone/>
            </a:pPr>
            <a:r>
              <a:rPr lang="en-US" sz="750" b="1" dirty="0">
                <a:solidFill>
                  <a:srgbClr val="1A3A5C"/>
                </a:solidFill>
                <a:latin typeface="Calibri" pitchFamily="34" charset="0"/>
                <a:ea typeface="Calibri" pitchFamily="34" charset="-122"/>
                <a:cs typeface="Calibri" pitchFamily="34" charset="-120"/>
              </a:rPr>
              <a:t>問題詳細（Is / Is Not）</a:t>
            </a:r>
            <a:endParaRPr lang="en-US" sz="750" dirty="0"/>
          </a:p>
        </p:txBody>
      </p:sp>
      <p:sp>
        <p:nvSpPr>
          <p:cNvPr id="80" name="Text 78"/>
          <p:cNvSpPr/>
          <p:nvPr/>
        </p:nvSpPr>
        <p:spPr>
          <a:xfrm>
            <a:off x="5833872" y="3657600"/>
            <a:ext cx="5998464" cy="969264"/>
          </a:xfrm>
          <a:prstGeom prst="rect">
            <a:avLst/>
          </a:prstGeom>
          <a:noFill/>
          <a:ln/>
        </p:spPr>
        <p:txBody>
          <a:bodyPr wrap="square" rtlCol="0" anchor="t"/>
          <a:lstStyle/>
          <a:p>
            <a:pPr indent="0" marL="0">
              <a:buNone/>
            </a:pPr>
            <a:r>
              <a:rPr lang="en-US" sz="850" dirty="0">
                <a:solidFill>
                  <a:srgbClr val="1A1A1A"/>
                </a:solidFill>
                <a:latin typeface="Calibri" pitchFamily="34" charset="0"/>
                <a:ea typeface="Calibri" pitchFamily="34" charset="-122"/>
                <a:cs typeface="Calibri" pitchFamily="34" charset="-120"/>
              </a:rPr>
              <a:t>XS-500センサーが+2.3℃のオフセットドリフトを示す。現象は製品稼働後30分以降に顕著で、常温（25℃）環境では発生しない。高温環境（60℃以上）で再現性が高い。</a:t>
            </a:r>
            <a:endParaRPr lang="en-US" sz="850" dirty="0"/>
          </a:p>
          <a:p>
            <a:pPr indent="0" marL="0">
              <a:buNone/>
            </a:pPr>
            <a:r>
              <a:rPr lang="en-US" sz="850" dirty="0">
                <a:solidFill>
                  <a:srgbClr val="1A1A1A"/>
                </a:solidFill>
                <a:latin typeface="Calibri" pitchFamily="34" charset="0"/>
                <a:ea typeface="Calibri" pitchFamily="34" charset="-122"/>
                <a:cs typeface="Calibri" pitchFamily="34" charset="-120"/>
              </a:rPr>
              <a:t>Is: 同一ロット品 / Is Not: 前後ロット、常温環境下</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A3A5C"/>
          </a:solidFill>
          <a:ln w="12700">
            <a:solidFill>
              <a:srgbClr val="1A3A5C"/>
            </a:solidFill>
            <a:prstDash val="solid"/>
          </a:ln>
        </p:spPr>
      </p:sp>
      <p:sp>
        <p:nvSpPr>
          <p:cNvPr id="3" name="Shape 1"/>
          <p:cNvSpPr/>
          <p:nvPr/>
        </p:nvSpPr>
        <p:spPr>
          <a:xfrm>
            <a:off x="0" y="0"/>
            <a:ext cx="109728" cy="914400"/>
          </a:xfrm>
          <a:prstGeom prst="rect">
            <a:avLst/>
          </a:prstGeom>
          <a:solidFill>
            <a:srgbClr val="C62828"/>
          </a:solidFill>
          <a:ln w="12700">
            <a:solidFill>
              <a:srgbClr val="C62828"/>
            </a:solidFill>
            <a:prstDash val="solid"/>
          </a:ln>
        </p:spPr>
      </p:sp>
      <p:sp>
        <p:nvSpPr>
          <p:cNvPr id="4" name="Text 2"/>
          <p:cNvSpPr/>
          <p:nvPr/>
        </p:nvSpPr>
        <p:spPr>
          <a:xfrm>
            <a:off x="201168" y="36576"/>
            <a:ext cx="4572000" cy="365760"/>
          </a:xfrm>
          <a:prstGeom prst="rect">
            <a:avLst/>
          </a:prstGeom>
          <a:noFill/>
          <a:ln/>
        </p:spPr>
        <p:txBody>
          <a:bodyPr wrap="square" rtlCol="0" anchor="ctr"/>
          <a:lstStyle/>
          <a:p>
            <a:pPr indent="0" marL="0">
              <a:buNone/>
            </a:pPr>
            <a:r>
              <a:rPr lang="en-US" sz="1100" dirty="0">
                <a:solidFill>
                  <a:srgbClr val="D6E4F0"/>
                </a:solidFill>
                <a:latin typeface="Calibri" pitchFamily="34" charset="0"/>
                <a:ea typeface="Calibri" pitchFamily="34" charset="-122"/>
                <a:cs typeface="Calibri" pitchFamily="34" charset="-120"/>
              </a:rPr>
              <a:t>8D レポート</a:t>
            </a:r>
            <a:endParaRPr lang="en-US" sz="1100" dirty="0"/>
          </a:p>
        </p:txBody>
      </p:sp>
      <p:sp>
        <p:nvSpPr>
          <p:cNvPr id="5" name="Text 3"/>
          <p:cNvSpPr/>
          <p:nvPr/>
        </p:nvSpPr>
        <p:spPr>
          <a:xfrm>
            <a:off x="201168" y="384048"/>
            <a:ext cx="8686800" cy="47548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D3: 暫定処置　／　D4: 根本原因解析（5Why）</a:t>
            </a:r>
            <a:endParaRPr lang="en-US" sz="1800" dirty="0"/>
          </a:p>
        </p:txBody>
      </p:sp>
      <p:sp>
        <p:nvSpPr>
          <p:cNvPr id="6" name="Text 4"/>
          <p:cNvSpPr/>
          <p:nvPr/>
        </p:nvSpPr>
        <p:spPr>
          <a:xfrm>
            <a:off x="8961120" y="91440"/>
            <a:ext cx="3108960" cy="685800"/>
          </a:xfrm>
          <a:prstGeom prst="rect">
            <a:avLst/>
          </a:prstGeom>
          <a:noFill/>
          <a:ln/>
        </p:spPr>
        <p:txBody>
          <a:bodyPr wrap="square" rtlCol="0" anchor="ctr"/>
          <a:lstStyle/>
          <a:p>
            <a:pPr algn="r" indent="0" marL="0">
              <a:buNone/>
            </a:pPr>
            <a:r>
              <a:rPr lang="en-US" sz="800" dirty="0">
                <a:solidFill>
                  <a:srgbClr val="D6E4F0"/>
                </a:solidFill>
                <a:latin typeface="Calibri" pitchFamily="34" charset="0"/>
                <a:ea typeface="Calibri" pitchFamily="34" charset="-122"/>
                <a:cs typeface="Calibri" pitchFamily="34" charset="-120"/>
              </a:rPr>
              <a:t>文書番号: 8D-2025-001　Rev.B　</a:t>
            </a:r>
            <a:endParaRPr lang="en-US" sz="800" dirty="0"/>
          </a:p>
          <a:p>
            <a:pPr algn="r" indent="0" marL="0">
              <a:buNone/>
            </a:pPr>
            <a:r>
              <a:rPr lang="en-US" sz="800" dirty="0">
                <a:solidFill>
                  <a:srgbClr val="D6E4F0"/>
                </a:solidFill>
                <a:latin typeface="Calibri" pitchFamily="34" charset="0"/>
                <a:ea typeface="Calibri" pitchFamily="34" charset="-122"/>
                <a:cs typeface="Calibri" pitchFamily="34" charset="-120"/>
              </a:rPr>
              <a:t>発行日: 2025年4月5日　製造株式会社</a:t>
            </a:r>
            <a:endParaRPr lang="en-US" sz="800" dirty="0"/>
          </a:p>
        </p:txBody>
      </p:sp>
      <p:sp>
        <p:nvSpPr>
          <p:cNvPr id="7" name="Shape 5"/>
          <p:cNvSpPr/>
          <p:nvPr/>
        </p:nvSpPr>
        <p:spPr>
          <a:xfrm>
            <a:off x="9966960" y="621792"/>
            <a:ext cx="1645920" cy="256032"/>
          </a:xfrm>
          <a:prstGeom prst="roundRect">
            <a:avLst>
              <a:gd name="adj" fmla="val 17857"/>
            </a:avLst>
          </a:prstGeom>
          <a:solidFill>
            <a:srgbClr val="1B5E20"/>
          </a:solidFill>
          <a:ln w="12700">
            <a:solidFill>
              <a:srgbClr val="1B5E20"/>
            </a:solidFill>
            <a:prstDash val="solid"/>
          </a:ln>
        </p:spPr>
      </p:sp>
      <p:sp>
        <p:nvSpPr>
          <p:cNvPr id="8" name="Text 6"/>
          <p:cNvSpPr/>
          <p:nvPr/>
        </p:nvSpPr>
        <p:spPr>
          <a:xfrm>
            <a:off x="9966960" y="621792"/>
            <a:ext cx="164592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クローズ済</a:t>
            </a:r>
            <a:endParaRPr lang="en-US" sz="800" dirty="0"/>
          </a:p>
        </p:txBody>
      </p:sp>
      <p:sp>
        <p:nvSpPr>
          <p:cNvPr id="9" name="Shape 7"/>
          <p:cNvSpPr/>
          <p:nvPr/>
        </p:nvSpPr>
        <p:spPr>
          <a:xfrm>
            <a:off x="0" y="6565392"/>
            <a:ext cx="12188952" cy="292608"/>
          </a:xfrm>
          <a:prstGeom prst="rect">
            <a:avLst/>
          </a:prstGeom>
          <a:solidFill>
            <a:srgbClr val="1A3A5C"/>
          </a:solidFill>
          <a:ln w="12700">
            <a:solidFill>
              <a:srgbClr val="1A3A5C"/>
            </a:solidFill>
            <a:prstDash val="solid"/>
          </a:ln>
        </p:spPr>
      </p:sp>
      <p:sp>
        <p:nvSpPr>
          <p:cNvPr id="10" name="Text 8"/>
          <p:cNvSpPr/>
          <p:nvPr/>
        </p:nvSpPr>
        <p:spPr>
          <a:xfrm>
            <a:off x="182880" y="6583680"/>
            <a:ext cx="8229600" cy="256032"/>
          </a:xfrm>
          <a:prstGeom prst="rect">
            <a:avLst/>
          </a:prstGeom>
          <a:noFill/>
          <a:ln/>
        </p:spPr>
        <p:txBody>
          <a:bodyPr wrap="square" rtlCol="0" anchor="ctr"/>
          <a:lstStyle/>
          <a:p>
            <a:pPr indent="0" marL="0">
              <a:buNone/>
            </a:pPr>
            <a:r>
              <a:rPr lang="en-US" sz="700" dirty="0">
                <a:solidFill>
                  <a:srgbClr val="D6E4F0"/>
                </a:solidFill>
                <a:latin typeface="Calibri" pitchFamily="34" charset="0"/>
                <a:ea typeface="Calibri" pitchFamily="34" charset="-122"/>
                <a:cs typeface="Calibri" pitchFamily="34" charset="-120"/>
              </a:rPr>
              <a:t>© 製造株式会社　このドキュメントは社外秘です。</a:t>
            </a:r>
            <a:endParaRPr lang="en-US" sz="700" dirty="0"/>
          </a:p>
        </p:txBody>
      </p:sp>
      <p:sp>
        <p:nvSpPr>
          <p:cNvPr id="11" name="Text 9"/>
          <p:cNvSpPr/>
          <p:nvPr/>
        </p:nvSpPr>
        <p:spPr>
          <a:xfrm>
            <a:off x="11274552" y="6583680"/>
            <a:ext cx="731520" cy="256032"/>
          </a:xfrm>
          <a:prstGeom prst="rect">
            <a:avLst/>
          </a:prstGeom>
          <a:noFill/>
          <a:ln/>
        </p:spPr>
        <p:txBody>
          <a:bodyPr wrap="square" rtlCol="0" anchor="ctr"/>
          <a:lstStyle/>
          <a:p>
            <a:pPr algn="r" indent="0" marL="0">
              <a:buNone/>
            </a:pPr>
            <a:r>
              <a:rPr lang="en-US" sz="700" dirty="0">
                <a:solidFill>
                  <a:srgbClr val="D6E4F0"/>
                </a:solidFill>
                <a:latin typeface="Calibri" pitchFamily="34" charset="0"/>
                <a:ea typeface="Calibri" pitchFamily="34" charset="-122"/>
                <a:cs typeface="Calibri" pitchFamily="34" charset="-120"/>
              </a:rPr>
              <a:t>2 / 4</a:t>
            </a:r>
            <a:endParaRPr lang="en-US" sz="700" dirty="0"/>
          </a:p>
        </p:txBody>
      </p:sp>
      <p:sp>
        <p:nvSpPr>
          <p:cNvPr id="12" name="Shape 10"/>
          <p:cNvSpPr/>
          <p:nvPr/>
        </p:nvSpPr>
        <p:spPr>
          <a:xfrm>
            <a:off x="274320" y="1005840"/>
            <a:ext cx="11640312" cy="329184"/>
          </a:xfrm>
          <a:prstGeom prst="rect">
            <a:avLst/>
          </a:prstGeom>
          <a:solidFill>
            <a:srgbClr val="E65100"/>
          </a:solidFill>
          <a:ln w="12700">
            <a:solidFill>
              <a:srgbClr val="E65100"/>
            </a:solidFill>
            <a:prstDash val="solid"/>
          </a:ln>
        </p:spPr>
      </p:sp>
      <p:sp>
        <p:nvSpPr>
          <p:cNvPr id="13" name="Shape 11"/>
          <p:cNvSpPr/>
          <p:nvPr/>
        </p:nvSpPr>
        <p:spPr>
          <a:xfrm>
            <a:off x="329184" y="1051560"/>
            <a:ext cx="512064" cy="237744"/>
          </a:xfrm>
          <a:prstGeom prst="roundRect">
            <a:avLst>
              <a:gd name="adj" fmla="val 30769"/>
            </a:avLst>
          </a:prstGeom>
          <a:solidFill>
            <a:srgbClr val="FFFFFF"/>
          </a:solidFill>
          <a:ln w="12700">
            <a:solidFill>
              <a:srgbClr val="FFFFFF"/>
            </a:solidFill>
            <a:prstDash val="solid"/>
          </a:ln>
        </p:spPr>
      </p:sp>
      <p:sp>
        <p:nvSpPr>
          <p:cNvPr id="14" name="Text 12"/>
          <p:cNvSpPr/>
          <p:nvPr/>
        </p:nvSpPr>
        <p:spPr>
          <a:xfrm>
            <a:off x="329184" y="1051560"/>
            <a:ext cx="512064" cy="237744"/>
          </a:xfrm>
          <a:prstGeom prst="rect">
            <a:avLst/>
          </a:prstGeom>
          <a:noFill/>
          <a:ln/>
        </p:spPr>
        <p:txBody>
          <a:bodyPr wrap="square" rtlCol="0" anchor="ctr"/>
          <a:lstStyle/>
          <a:p>
            <a:pPr algn="ctr" indent="0" marL="0">
              <a:buNone/>
            </a:pPr>
            <a:r>
              <a:rPr lang="en-US" sz="900" b="1" dirty="0">
                <a:solidFill>
                  <a:srgbClr val="E65100"/>
                </a:solidFill>
                <a:latin typeface="Calibri" pitchFamily="34" charset="0"/>
                <a:ea typeface="Calibri" pitchFamily="34" charset="-122"/>
                <a:cs typeface="Calibri" pitchFamily="34" charset="-120"/>
              </a:rPr>
              <a:t>D3</a:t>
            </a:r>
            <a:endParaRPr lang="en-US" sz="900" dirty="0"/>
          </a:p>
        </p:txBody>
      </p:sp>
      <p:sp>
        <p:nvSpPr>
          <p:cNvPr id="15" name="Text 13"/>
          <p:cNvSpPr/>
          <p:nvPr/>
        </p:nvSpPr>
        <p:spPr>
          <a:xfrm>
            <a:off x="896112" y="1060704"/>
            <a:ext cx="10963656"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暫定封じ込め処置（Containment Action）</a:t>
            </a:r>
            <a:endParaRPr lang="en-US" sz="1100" dirty="0"/>
          </a:p>
        </p:txBody>
      </p:sp>
      <p:sp>
        <p:nvSpPr>
          <p:cNvPr id="16" name="Shape 14"/>
          <p:cNvSpPr/>
          <p:nvPr/>
        </p:nvSpPr>
        <p:spPr>
          <a:xfrm>
            <a:off x="274320" y="1371600"/>
            <a:ext cx="6400800" cy="274320"/>
          </a:xfrm>
          <a:prstGeom prst="rect">
            <a:avLst/>
          </a:prstGeom>
          <a:solidFill>
            <a:srgbClr val="2E75B6"/>
          </a:solidFill>
          <a:ln w="6350">
            <a:solidFill>
              <a:srgbClr val="FFFFFF"/>
            </a:solidFill>
            <a:prstDash val="solid"/>
          </a:ln>
        </p:spPr>
      </p:sp>
      <p:sp>
        <p:nvSpPr>
          <p:cNvPr id="17" name="Text 15"/>
          <p:cNvSpPr/>
          <p:nvPr/>
        </p:nvSpPr>
        <p:spPr>
          <a:xfrm>
            <a:off x="310896" y="1371600"/>
            <a:ext cx="634593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暫定処置内容</a:t>
            </a:r>
            <a:endParaRPr lang="en-US" sz="800" dirty="0"/>
          </a:p>
        </p:txBody>
      </p:sp>
      <p:sp>
        <p:nvSpPr>
          <p:cNvPr id="18" name="Shape 16"/>
          <p:cNvSpPr/>
          <p:nvPr/>
        </p:nvSpPr>
        <p:spPr>
          <a:xfrm>
            <a:off x="6675120" y="1371600"/>
            <a:ext cx="1645920" cy="274320"/>
          </a:xfrm>
          <a:prstGeom prst="rect">
            <a:avLst/>
          </a:prstGeom>
          <a:solidFill>
            <a:srgbClr val="2E75B6"/>
          </a:solidFill>
          <a:ln w="6350">
            <a:solidFill>
              <a:srgbClr val="FFFFFF"/>
            </a:solidFill>
            <a:prstDash val="solid"/>
          </a:ln>
        </p:spPr>
      </p:sp>
      <p:sp>
        <p:nvSpPr>
          <p:cNvPr id="19" name="Text 17"/>
          <p:cNvSpPr/>
          <p:nvPr/>
        </p:nvSpPr>
        <p:spPr>
          <a:xfrm>
            <a:off x="6711696" y="1371600"/>
            <a:ext cx="159105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担当者</a:t>
            </a:r>
            <a:endParaRPr lang="en-US" sz="800" dirty="0"/>
          </a:p>
        </p:txBody>
      </p:sp>
      <p:sp>
        <p:nvSpPr>
          <p:cNvPr id="20" name="Shape 18"/>
          <p:cNvSpPr/>
          <p:nvPr/>
        </p:nvSpPr>
        <p:spPr>
          <a:xfrm>
            <a:off x="8321040" y="1371600"/>
            <a:ext cx="731520" cy="274320"/>
          </a:xfrm>
          <a:prstGeom prst="rect">
            <a:avLst/>
          </a:prstGeom>
          <a:solidFill>
            <a:srgbClr val="2E75B6"/>
          </a:solidFill>
          <a:ln w="6350">
            <a:solidFill>
              <a:srgbClr val="FFFFFF"/>
            </a:solidFill>
            <a:prstDash val="solid"/>
          </a:ln>
        </p:spPr>
      </p:sp>
      <p:sp>
        <p:nvSpPr>
          <p:cNvPr id="21" name="Text 19"/>
          <p:cNvSpPr/>
          <p:nvPr/>
        </p:nvSpPr>
        <p:spPr>
          <a:xfrm>
            <a:off x="8357616" y="1371600"/>
            <a:ext cx="67665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期限</a:t>
            </a:r>
            <a:endParaRPr lang="en-US" sz="800" dirty="0"/>
          </a:p>
        </p:txBody>
      </p:sp>
      <p:sp>
        <p:nvSpPr>
          <p:cNvPr id="22" name="Shape 20"/>
          <p:cNvSpPr/>
          <p:nvPr/>
        </p:nvSpPr>
        <p:spPr>
          <a:xfrm>
            <a:off x="9052560" y="1371600"/>
            <a:ext cx="2587752" cy="274320"/>
          </a:xfrm>
          <a:prstGeom prst="rect">
            <a:avLst/>
          </a:prstGeom>
          <a:solidFill>
            <a:srgbClr val="2E75B6"/>
          </a:solidFill>
          <a:ln w="6350">
            <a:solidFill>
              <a:srgbClr val="FFFFFF"/>
            </a:solidFill>
            <a:prstDash val="solid"/>
          </a:ln>
        </p:spPr>
      </p:sp>
      <p:sp>
        <p:nvSpPr>
          <p:cNvPr id="23" name="Text 21"/>
          <p:cNvSpPr/>
          <p:nvPr/>
        </p:nvSpPr>
        <p:spPr>
          <a:xfrm>
            <a:off x="9089136" y="1371600"/>
            <a:ext cx="2532888"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結果確認</a:t>
            </a:r>
            <a:endParaRPr lang="en-US" sz="800" dirty="0"/>
          </a:p>
        </p:txBody>
      </p:sp>
      <p:sp>
        <p:nvSpPr>
          <p:cNvPr id="24" name="Shape 22"/>
          <p:cNvSpPr/>
          <p:nvPr/>
        </p:nvSpPr>
        <p:spPr>
          <a:xfrm>
            <a:off x="274320" y="1645920"/>
            <a:ext cx="6400800" cy="256032"/>
          </a:xfrm>
          <a:prstGeom prst="rect">
            <a:avLst/>
          </a:prstGeom>
          <a:solidFill>
            <a:srgbClr val="F0F6FF"/>
          </a:solidFill>
          <a:ln w="2540">
            <a:solidFill>
              <a:srgbClr val="2E75B6"/>
            </a:solidFill>
            <a:prstDash val="solid"/>
          </a:ln>
        </p:spPr>
      </p:sp>
      <p:sp>
        <p:nvSpPr>
          <p:cNvPr id="25" name="Text 23"/>
          <p:cNvSpPr/>
          <p:nvPr/>
        </p:nvSpPr>
        <p:spPr>
          <a:xfrm>
            <a:off x="310896" y="1645920"/>
            <a:ext cx="6345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不良ロット LOT-250228-A 全数（200個）を顧客サイトにて隔離・回収</a:t>
            </a:r>
            <a:endParaRPr lang="en-US" sz="750" dirty="0"/>
          </a:p>
        </p:txBody>
      </p:sp>
      <p:sp>
        <p:nvSpPr>
          <p:cNvPr id="26" name="Shape 24"/>
          <p:cNvSpPr/>
          <p:nvPr/>
        </p:nvSpPr>
        <p:spPr>
          <a:xfrm>
            <a:off x="6675120" y="1645920"/>
            <a:ext cx="1645920" cy="256032"/>
          </a:xfrm>
          <a:prstGeom prst="rect">
            <a:avLst/>
          </a:prstGeom>
          <a:solidFill>
            <a:srgbClr val="F0F6FF"/>
          </a:solidFill>
          <a:ln w="2540">
            <a:solidFill>
              <a:srgbClr val="2E75B6"/>
            </a:solidFill>
            <a:prstDash val="solid"/>
          </a:ln>
        </p:spPr>
      </p:sp>
      <p:sp>
        <p:nvSpPr>
          <p:cNvPr id="27" name="Text 25"/>
          <p:cNvSpPr/>
          <p:nvPr/>
        </p:nvSpPr>
        <p:spPr>
          <a:xfrm>
            <a:off x="6711696" y="1645920"/>
            <a:ext cx="15910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渡辺 四郎</a:t>
            </a:r>
            <a:endParaRPr lang="en-US" sz="750" dirty="0"/>
          </a:p>
        </p:txBody>
      </p:sp>
      <p:sp>
        <p:nvSpPr>
          <p:cNvPr id="28" name="Shape 26"/>
          <p:cNvSpPr/>
          <p:nvPr/>
        </p:nvSpPr>
        <p:spPr>
          <a:xfrm>
            <a:off x="8321040" y="1645920"/>
            <a:ext cx="731520" cy="256032"/>
          </a:xfrm>
          <a:prstGeom prst="rect">
            <a:avLst/>
          </a:prstGeom>
          <a:solidFill>
            <a:srgbClr val="F0F6FF"/>
          </a:solidFill>
          <a:ln w="2540">
            <a:solidFill>
              <a:srgbClr val="2E75B6"/>
            </a:solidFill>
            <a:prstDash val="solid"/>
          </a:ln>
        </p:spPr>
      </p:sp>
      <p:sp>
        <p:nvSpPr>
          <p:cNvPr id="29" name="Text 27"/>
          <p:cNvSpPr/>
          <p:nvPr/>
        </p:nvSpPr>
        <p:spPr>
          <a:xfrm>
            <a:off x="8357616" y="164592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3/1</a:t>
            </a:r>
            <a:endParaRPr lang="en-US" sz="750" dirty="0"/>
          </a:p>
        </p:txBody>
      </p:sp>
      <p:sp>
        <p:nvSpPr>
          <p:cNvPr id="30" name="Shape 28"/>
          <p:cNvSpPr/>
          <p:nvPr/>
        </p:nvSpPr>
        <p:spPr>
          <a:xfrm>
            <a:off x="9052560" y="1645920"/>
            <a:ext cx="2587752" cy="256032"/>
          </a:xfrm>
          <a:prstGeom prst="rect">
            <a:avLst/>
          </a:prstGeom>
          <a:solidFill>
            <a:srgbClr val="F0F6FF"/>
          </a:solidFill>
          <a:ln w="2540">
            <a:solidFill>
              <a:srgbClr val="2E75B6"/>
            </a:solidFill>
            <a:prstDash val="solid"/>
          </a:ln>
        </p:spPr>
      </p:sp>
      <p:sp>
        <p:nvSpPr>
          <p:cNvPr id="31" name="Text 29"/>
          <p:cNvSpPr/>
          <p:nvPr/>
        </p:nvSpPr>
        <p:spPr>
          <a:xfrm>
            <a:off x="9089136" y="1645920"/>
            <a:ext cx="253288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完了</a:t>
            </a:r>
            <a:endParaRPr lang="en-US" sz="750" dirty="0"/>
          </a:p>
        </p:txBody>
      </p:sp>
      <p:sp>
        <p:nvSpPr>
          <p:cNvPr id="32" name="Shape 30"/>
          <p:cNvSpPr/>
          <p:nvPr/>
        </p:nvSpPr>
        <p:spPr>
          <a:xfrm>
            <a:off x="274320" y="1920240"/>
            <a:ext cx="6400800" cy="256032"/>
          </a:xfrm>
          <a:prstGeom prst="rect">
            <a:avLst/>
          </a:prstGeom>
          <a:solidFill>
            <a:srgbClr val="FFFFFF"/>
          </a:solidFill>
          <a:ln w="2540">
            <a:solidFill>
              <a:srgbClr val="2E75B6"/>
            </a:solidFill>
            <a:prstDash val="solid"/>
          </a:ln>
        </p:spPr>
      </p:sp>
      <p:sp>
        <p:nvSpPr>
          <p:cNvPr id="33" name="Text 31"/>
          <p:cNvSpPr/>
          <p:nvPr/>
        </p:nvSpPr>
        <p:spPr>
          <a:xfrm>
            <a:off x="310896" y="1920240"/>
            <a:ext cx="6345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代替センサー（前ロット合格品）50個を緊急手配・顧客へ納品</a:t>
            </a:r>
            <a:endParaRPr lang="en-US" sz="750" dirty="0"/>
          </a:p>
        </p:txBody>
      </p:sp>
      <p:sp>
        <p:nvSpPr>
          <p:cNvPr id="34" name="Shape 32"/>
          <p:cNvSpPr/>
          <p:nvPr/>
        </p:nvSpPr>
        <p:spPr>
          <a:xfrm>
            <a:off x="6675120" y="1920240"/>
            <a:ext cx="1645920" cy="256032"/>
          </a:xfrm>
          <a:prstGeom prst="rect">
            <a:avLst/>
          </a:prstGeom>
          <a:solidFill>
            <a:srgbClr val="FFFFFF"/>
          </a:solidFill>
          <a:ln w="2540">
            <a:solidFill>
              <a:srgbClr val="2E75B6"/>
            </a:solidFill>
            <a:prstDash val="solid"/>
          </a:ln>
        </p:spPr>
      </p:sp>
      <p:sp>
        <p:nvSpPr>
          <p:cNvPr id="35" name="Text 33"/>
          <p:cNvSpPr/>
          <p:nvPr/>
        </p:nvSpPr>
        <p:spPr>
          <a:xfrm>
            <a:off x="6711696" y="1920240"/>
            <a:ext cx="15910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鈴木 花子</a:t>
            </a:r>
            <a:endParaRPr lang="en-US" sz="750" dirty="0"/>
          </a:p>
        </p:txBody>
      </p:sp>
      <p:sp>
        <p:nvSpPr>
          <p:cNvPr id="36" name="Shape 34"/>
          <p:cNvSpPr/>
          <p:nvPr/>
        </p:nvSpPr>
        <p:spPr>
          <a:xfrm>
            <a:off x="8321040" y="1920240"/>
            <a:ext cx="731520" cy="256032"/>
          </a:xfrm>
          <a:prstGeom prst="rect">
            <a:avLst/>
          </a:prstGeom>
          <a:solidFill>
            <a:srgbClr val="FFFFFF"/>
          </a:solidFill>
          <a:ln w="2540">
            <a:solidFill>
              <a:srgbClr val="2E75B6"/>
            </a:solidFill>
            <a:prstDash val="solid"/>
          </a:ln>
        </p:spPr>
      </p:sp>
      <p:sp>
        <p:nvSpPr>
          <p:cNvPr id="37" name="Text 35"/>
          <p:cNvSpPr/>
          <p:nvPr/>
        </p:nvSpPr>
        <p:spPr>
          <a:xfrm>
            <a:off x="8357616" y="192024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3/2</a:t>
            </a:r>
            <a:endParaRPr lang="en-US" sz="750" dirty="0"/>
          </a:p>
        </p:txBody>
      </p:sp>
      <p:sp>
        <p:nvSpPr>
          <p:cNvPr id="38" name="Shape 36"/>
          <p:cNvSpPr/>
          <p:nvPr/>
        </p:nvSpPr>
        <p:spPr>
          <a:xfrm>
            <a:off x="9052560" y="1920240"/>
            <a:ext cx="2587752" cy="256032"/>
          </a:xfrm>
          <a:prstGeom prst="rect">
            <a:avLst/>
          </a:prstGeom>
          <a:solidFill>
            <a:srgbClr val="FFFFFF"/>
          </a:solidFill>
          <a:ln w="2540">
            <a:solidFill>
              <a:srgbClr val="2E75B6"/>
            </a:solidFill>
            <a:prstDash val="solid"/>
          </a:ln>
        </p:spPr>
      </p:sp>
      <p:sp>
        <p:nvSpPr>
          <p:cNvPr id="39" name="Text 37"/>
          <p:cNvSpPr/>
          <p:nvPr/>
        </p:nvSpPr>
        <p:spPr>
          <a:xfrm>
            <a:off x="9089136" y="1920240"/>
            <a:ext cx="253288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完了</a:t>
            </a:r>
            <a:endParaRPr lang="en-US" sz="750" dirty="0"/>
          </a:p>
        </p:txBody>
      </p:sp>
      <p:sp>
        <p:nvSpPr>
          <p:cNvPr id="40" name="Shape 38"/>
          <p:cNvSpPr/>
          <p:nvPr/>
        </p:nvSpPr>
        <p:spPr>
          <a:xfrm>
            <a:off x="274320" y="2194560"/>
            <a:ext cx="6400800" cy="256032"/>
          </a:xfrm>
          <a:prstGeom prst="rect">
            <a:avLst/>
          </a:prstGeom>
          <a:solidFill>
            <a:srgbClr val="F0F6FF"/>
          </a:solidFill>
          <a:ln w="2540">
            <a:solidFill>
              <a:srgbClr val="2E75B6"/>
            </a:solidFill>
            <a:prstDash val="solid"/>
          </a:ln>
        </p:spPr>
      </p:sp>
      <p:sp>
        <p:nvSpPr>
          <p:cNvPr id="41" name="Text 39"/>
          <p:cNvSpPr/>
          <p:nvPr/>
        </p:nvSpPr>
        <p:spPr>
          <a:xfrm>
            <a:off x="310896" y="2194560"/>
            <a:ext cx="6345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隣接ロット（LOT-250225, 0226）を追加全数検査</a:t>
            </a:r>
            <a:endParaRPr lang="en-US" sz="750" dirty="0"/>
          </a:p>
        </p:txBody>
      </p:sp>
      <p:sp>
        <p:nvSpPr>
          <p:cNvPr id="42" name="Shape 40"/>
          <p:cNvSpPr/>
          <p:nvPr/>
        </p:nvSpPr>
        <p:spPr>
          <a:xfrm>
            <a:off x="6675120" y="2194560"/>
            <a:ext cx="1645920" cy="256032"/>
          </a:xfrm>
          <a:prstGeom prst="rect">
            <a:avLst/>
          </a:prstGeom>
          <a:solidFill>
            <a:srgbClr val="F0F6FF"/>
          </a:solidFill>
          <a:ln w="2540">
            <a:solidFill>
              <a:srgbClr val="2E75B6"/>
            </a:solidFill>
            <a:prstDash val="solid"/>
          </a:ln>
        </p:spPr>
      </p:sp>
      <p:sp>
        <p:nvSpPr>
          <p:cNvPr id="43" name="Text 41"/>
          <p:cNvSpPr/>
          <p:nvPr/>
        </p:nvSpPr>
        <p:spPr>
          <a:xfrm>
            <a:off x="6711696" y="2194560"/>
            <a:ext cx="15910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佐藤 次郎</a:t>
            </a:r>
            <a:endParaRPr lang="en-US" sz="750" dirty="0"/>
          </a:p>
        </p:txBody>
      </p:sp>
      <p:sp>
        <p:nvSpPr>
          <p:cNvPr id="44" name="Shape 42"/>
          <p:cNvSpPr/>
          <p:nvPr/>
        </p:nvSpPr>
        <p:spPr>
          <a:xfrm>
            <a:off x="8321040" y="2194560"/>
            <a:ext cx="731520" cy="256032"/>
          </a:xfrm>
          <a:prstGeom prst="rect">
            <a:avLst/>
          </a:prstGeom>
          <a:solidFill>
            <a:srgbClr val="F0F6FF"/>
          </a:solidFill>
          <a:ln w="2540">
            <a:solidFill>
              <a:srgbClr val="2E75B6"/>
            </a:solidFill>
            <a:prstDash val="solid"/>
          </a:ln>
        </p:spPr>
      </p:sp>
      <p:sp>
        <p:nvSpPr>
          <p:cNvPr id="45" name="Text 43"/>
          <p:cNvSpPr/>
          <p:nvPr/>
        </p:nvSpPr>
        <p:spPr>
          <a:xfrm>
            <a:off x="8357616" y="219456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3/3</a:t>
            </a:r>
            <a:endParaRPr lang="en-US" sz="750" dirty="0"/>
          </a:p>
        </p:txBody>
      </p:sp>
      <p:sp>
        <p:nvSpPr>
          <p:cNvPr id="46" name="Shape 44"/>
          <p:cNvSpPr/>
          <p:nvPr/>
        </p:nvSpPr>
        <p:spPr>
          <a:xfrm>
            <a:off x="9052560" y="2194560"/>
            <a:ext cx="2587752" cy="256032"/>
          </a:xfrm>
          <a:prstGeom prst="rect">
            <a:avLst/>
          </a:prstGeom>
          <a:solidFill>
            <a:srgbClr val="F0F6FF"/>
          </a:solidFill>
          <a:ln w="2540">
            <a:solidFill>
              <a:srgbClr val="2E75B6"/>
            </a:solidFill>
            <a:prstDash val="solid"/>
          </a:ln>
        </p:spPr>
      </p:sp>
      <p:sp>
        <p:nvSpPr>
          <p:cNvPr id="47" name="Text 45"/>
          <p:cNvSpPr/>
          <p:nvPr/>
        </p:nvSpPr>
        <p:spPr>
          <a:xfrm>
            <a:off x="9089136" y="2194560"/>
            <a:ext cx="253288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合格確認</a:t>
            </a:r>
            <a:endParaRPr lang="en-US" sz="750" dirty="0"/>
          </a:p>
        </p:txBody>
      </p:sp>
      <p:sp>
        <p:nvSpPr>
          <p:cNvPr id="48" name="Shape 46"/>
          <p:cNvSpPr/>
          <p:nvPr/>
        </p:nvSpPr>
        <p:spPr>
          <a:xfrm>
            <a:off x="274320" y="2468880"/>
            <a:ext cx="6400800" cy="256032"/>
          </a:xfrm>
          <a:prstGeom prst="rect">
            <a:avLst/>
          </a:prstGeom>
          <a:solidFill>
            <a:srgbClr val="FFFFFF"/>
          </a:solidFill>
          <a:ln w="2540">
            <a:solidFill>
              <a:srgbClr val="2E75B6"/>
            </a:solidFill>
            <a:prstDash val="solid"/>
          </a:ln>
        </p:spPr>
      </p:sp>
      <p:sp>
        <p:nvSpPr>
          <p:cNvPr id="49" name="Text 47"/>
          <p:cNvSpPr/>
          <p:nvPr/>
        </p:nvSpPr>
        <p:spPr>
          <a:xfrm>
            <a:off x="310896" y="2468880"/>
            <a:ext cx="6345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顧客への暫定報告書（中間8D）を提出</a:t>
            </a:r>
            <a:endParaRPr lang="en-US" sz="750" dirty="0"/>
          </a:p>
        </p:txBody>
      </p:sp>
      <p:sp>
        <p:nvSpPr>
          <p:cNvPr id="50" name="Shape 48"/>
          <p:cNvSpPr/>
          <p:nvPr/>
        </p:nvSpPr>
        <p:spPr>
          <a:xfrm>
            <a:off x="6675120" y="2468880"/>
            <a:ext cx="1645920" cy="256032"/>
          </a:xfrm>
          <a:prstGeom prst="rect">
            <a:avLst/>
          </a:prstGeom>
          <a:solidFill>
            <a:srgbClr val="FFFFFF"/>
          </a:solidFill>
          <a:ln w="2540">
            <a:solidFill>
              <a:srgbClr val="2E75B6"/>
            </a:solidFill>
            <a:prstDash val="solid"/>
          </a:ln>
        </p:spPr>
      </p:sp>
      <p:sp>
        <p:nvSpPr>
          <p:cNvPr id="51" name="Text 49"/>
          <p:cNvSpPr/>
          <p:nvPr/>
        </p:nvSpPr>
        <p:spPr>
          <a:xfrm>
            <a:off x="6711696" y="2468880"/>
            <a:ext cx="15910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田中 太郎</a:t>
            </a:r>
            <a:endParaRPr lang="en-US" sz="750" dirty="0"/>
          </a:p>
        </p:txBody>
      </p:sp>
      <p:sp>
        <p:nvSpPr>
          <p:cNvPr id="52" name="Shape 50"/>
          <p:cNvSpPr/>
          <p:nvPr/>
        </p:nvSpPr>
        <p:spPr>
          <a:xfrm>
            <a:off x="8321040" y="2468880"/>
            <a:ext cx="731520" cy="256032"/>
          </a:xfrm>
          <a:prstGeom prst="rect">
            <a:avLst/>
          </a:prstGeom>
          <a:solidFill>
            <a:srgbClr val="FFFFFF"/>
          </a:solidFill>
          <a:ln w="2540">
            <a:solidFill>
              <a:srgbClr val="2E75B6"/>
            </a:solidFill>
            <a:prstDash val="solid"/>
          </a:ln>
        </p:spPr>
      </p:sp>
      <p:sp>
        <p:nvSpPr>
          <p:cNvPr id="53" name="Text 51"/>
          <p:cNvSpPr/>
          <p:nvPr/>
        </p:nvSpPr>
        <p:spPr>
          <a:xfrm>
            <a:off x="8357616" y="246888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3/3</a:t>
            </a:r>
            <a:endParaRPr lang="en-US" sz="750" dirty="0"/>
          </a:p>
        </p:txBody>
      </p:sp>
      <p:sp>
        <p:nvSpPr>
          <p:cNvPr id="54" name="Shape 52"/>
          <p:cNvSpPr/>
          <p:nvPr/>
        </p:nvSpPr>
        <p:spPr>
          <a:xfrm>
            <a:off x="9052560" y="2468880"/>
            <a:ext cx="2587752" cy="256032"/>
          </a:xfrm>
          <a:prstGeom prst="rect">
            <a:avLst/>
          </a:prstGeom>
          <a:solidFill>
            <a:srgbClr val="FFFFFF"/>
          </a:solidFill>
          <a:ln w="2540">
            <a:solidFill>
              <a:srgbClr val="2E75B6"/>
            </a:solidFill>
            <a:prstDash val="solid"/>
          </a:ln>
        </p:spPr>
      </p:sp>
      <p:sp>
        <p:nvSpPr>
          <p:cNvPr id="55" name="Text 53"/>
          <p:cNvSpPr/>
          <p:nvPr/>
        </p:nvSpPr>
        <p:spPr>
          <a:xfrm>
            <a:off x="9089136" y="2468880"/>
            <a:ext cx="253288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提出済</a:t>
            </a:r>
            <a:endParaRPr lang="en-US" sz="750" dirty="0"/>
          </a:p>
        </p:txBody>
      </p:sp>
      <p:sp>
        <p:nvSpPr>
          <p:cNvPr id="56" name="Shape 54"/>
          <p:cNvSpPr/>
          <p:nvPr/>
        </p:nvSpPr>
        <p:spPr>
          <a:xfrm>
            <a:off x="274320" y="2852928"/>
            <a:ext cx="11640312" cy="329184"/>
          </a:xfrm>
          <a:prstGeom prst="rect">
            <a:avLst/>
          </a:prstGeom>
          <a:solidFill>
            <a:srgbClr val="C62828"/>
          </a:solidFill>
          <a:ln w="12700">
            <a:solidFill>
              <a:srgbClr val="C62828"/>
            </a:solidFill>
            <a:prstDash val="solid"/>
          </a:ln>
        </p:spPr>
      </p:sp>
      <p:sp>
        <p:nvSpPr>
          <p:cNvPr id="57" name="Shape 55"/>
          <p:cNvSpPr/>
          <p:nvPr/>
        </p:nvSpPr>
        <p:spPr>
          <a:xfrm>
            <a:off x="329184" y="2898648"/>
            <a:ext cx="512064" cy="237744"/>
          </a:xfrm>
          <a:prstGeom prst="roundRect">
            <a:avLst>
              <a:gd name="adj" fmla="val 30769"/>
            </a:avLst>
          </a:prstGeom>
          <a:solidFill>
            <a:srgbClr val="FFFFFF"/>
          </a:solidFill>
          <a:ln w="12700">
            <a:solidFill>
              <a:srgbClr val="FFFFFF"/>
            </a:solidFill>
            <a:prstDash val="solid"/>
          </a:ln>
        </p:spPr>
      </p:sp>
      <p:sp>
        <p:nvSpPr>
          <p:cNvPr id="58" name="Text 56"/>
          <p:cNvSpPr/>
          <p:nvPr/>
        </p:nvSpPr>
        <p:spPr>
          <a:xfrm>
            <a:off x="329184" y="2898648"/>
            <a:ext cx="512064" cy="237744"/>
          </a:xfrm>
          <a:prstGeom prst="rect">
            <a:avLst/>
          </a:prstGeom>
          <a:noFill/>
          <a:ln/>
        </p:spPr>
        <p:txBody>
          <a:bodyPr wrap="square" rtlCol="0" anchor="ctr"/>
          <a:lstStyle/>
          <a:p>
            <a:pPr algn="ctr" indent="0" marL="0">
              <a:buNone/>
            </a:pPr>
            <a:r>
              <a:rPr lang="en-US" sz="900" b="1" dirty="0">
                <a:solidFill>
                  <a:srgbClr val="C62828"/>
                </a:solidFill>
                <a:latin typeface="Calibri" pitchFamily="34" charset="0"/>
                <a:ea typeface="Calibri" pitchFamily="34" charset="-122"/>
                <a:cs typeface="Calibri" pitchFamily="34" charset="-120"/>
              </a:rPr>
              <a:t>D4</a:t>
            </a:r>
            <a:endParaRPr lang="en-US" sz="900" dirty="0"/>
          </a:p>
        </p:txBody>
      </p:sp>
      <p:sp>
        <p:nvSpPr>
          <p:cNvPr id="59" name="Text 57"/>
          <p:cNvSpPr/>
          <p:nvPr/>
        </p:nvSpPr>
        <p:spPr>
          <a:xfrm>
            <a:off x="896112" y="2907792"/>
            <a:ext cx="10963656"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根本原因解析（Root Cause Analysis / 5Why）</a:t>
            </a:r>
            <a:endParaRPr lang="en-US" sz="1100" dirty="0"/>
          </a:p>
        </p:txBody>
      </p:sp>
      <p:sp>
        <p:nvSpPr>
          <p:cNvPr id="60" name="Shape 58"/>
          <p:cNvSpPr/>
          <p:nvPr/>
        </p:nvSpPr>
        <p:spPr>
          <a:xfrm>
            <a:off x="274320" y="3218688"/>
            <a:ext cx="365760" cy="274320"/>
          </a:xfrm>
          <a:prstGeom prst="rect">
            <a:avLst/>
          </a:prstGeom>
          <a:solidFill>
            <a:srgbClr val="2E75B6"/>
          </a:solidFill>
          <a:ln w="6350">
            <a:solidFill>
              <a:srgbClr val="FFFFFF"/>
            </a:solidFill>
            <a:prstDash val="solid"/>
          </a:ln>
        </p:spPr>
      </p:sp>
      <p:sp>
        <p:nvSpPr>
          <p:cNvPr id="61" name="Text 59"/>
          <p:cNvSpPr/>
          <p:nvPr/>
        </p:nvSpPr>
        <p:spPr>
          <a:xfrm>
            <a:off x="310896" y="3218688"/>
            <a:ext cx="31089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a:t>
            </a:r>
            <a:endParaRPr lang="en-US" sz="800" dirty="0"/>
          </a:p>
        </p:txBody>
      </p:sp>
      <p:sp>
        <p:nvSpPr>
          <p:cNvPr id="62" name="Shape 60"/>
          <p:cNvSpPr/>
          <p:nvPr/>
        </p:nvSpPr>
        <p:spPr>
          <a:xfrm>
            <a:off x="640080" y="3218688"/>
            <a:ext cx="1554480" cy="274320"/>
          </a:xfrm>
          <a:prstGeom prst="rect">
            <a:avLst/>
          </a:prstGeom>
          <a:solidFill>
            <a:srgbClr val="2E75B6"/>
          </a:solidFill>
          <a:ln w="6350">
            <a:solidFill>
              <a:srgbClr val="FFFFFF"/>
            </a:solidFill>
            <a:prstDash val="solid"/>
          </a:ln>
        </p:spPr>
      </p:sp>
      <p:sp>
        <p:nvSpPr>
          <p:cNvPr id="63" name="Text 61"/>
          <p:cNvSpPr/>
          <p:nvPr/>
        </p:nvSpPr>
        <p:spPr>
          <a:xfrm>
            <a:off x="676656" y="3218688"/>
            <a:ext cx="149961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原因カテゴリ</a:t>
            </a:r>
            <a:endParaRPr lang="en-US" sz="800" dirty="0"/>
          </a:p>
        </p:txBody>
      </p:sp>
      <p:sp>
        <p:nvSpPr>
          <p:cNvPr id="64" name="Shape 62"/>
          <p:cNvSpPr/>
          <p:nvPr/>
        </p:nvSpPr>
        <p:spPr>
          <a:xfrm>
            <a:off x="2194560" y="3218688"/>
            <a:ext cx="7799832" cy="274320"/>
          </a:xfrm>
          <a:prstGeom prst="rect">
            <a:avLst/>
          </a:prstGeom>
          <a:solidFill>
            <a:srgbClr val="2E75B6"/>
          </a:solidFill>
          <a:ln w="6350">
            <a:solidFill>
              <a:srgbClr val="FFFFFF"/>
            </a:solidFill>
            <a:prstDash val="solid"/>
          </a:ln>
        </p:spPr>
      </p:sp>
      <p:sp>
        <p:nvSpPr>
          <p:cNvPr id="65" name="Text 63"/>
          <p:cNvSpPr/>
          <p:nvPr/>
        </p:nvSpPr>
        <p:spPr>
          <a:xfrm>
            <a:off x="2231136" y="3218688"/>
            <a:ext cx="7744968"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5Why 解析内容</a:t>
            </a:r>
            <a:endParaRPr lang="en-US" sz="800" dirty="0"/>
          </a:p>
        </p:txBody>
      </p:sp>
      <p:sp>
        <p:nvSpPr>
          <p:cNvPr id="66" name="Shape 64"/>
          <p:cNvSpPr/>
          <p:nvPr/>
        </p:nvSpPr>
        <p:spPr>
          <a:xfrm>
            <a:off x="9994392" y="3218688"/>
            <a:ext cx="731520" cy="274320"/>
          </a:xfrm>
          <a:prstGeom prst="rect">
            <a:avLst/>
          </a:prstGeom>
          <a:solidFill>
            <a:srgbClr val="2E75B6"/>
          </a:solidFill>
          <a:ln w="6350">
            <a:solidFill>
              <a:srgbClr val="FFFFFF"/>
            </a:solidFill>
            <a:prstDash val="solid"/>
          </a:ln>
        </p:spPr>
      </p:sp>
      <p:sp>
        <p:nvSpPr>
          <p:cNvPr id="67" name="Text 65"/>
          <p:cNvSpPr/>
          <p:nvPr/>
        </p:nvSpPr>
        <p:spPr>
          <a:xfrm>
            <a:off x="10030968" y="3218688"/>
            <a:ext cx="67665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根本</a:t>
            </a:r>
            <a:endParaRPr lang="en-US" sz="800" dirty="0"/>
          </a:p>
        </p:txBody>
      </p:sp>
      <p:sp>
        <p:nvSpPr>
          <p:cNvPr id="68" name="Shape 66"/>
          <p:cNvSpPr/>
          <p:nvPr/>
        </p:nvSpPr>
        <p:spPr>
          <a:xfrm>
            <a:off x="274320" y="3493008"/>
            <a:ext cx="365760" cy="274320"/>
          </a:xfrm>
          <a:prstGeom prst="rect">
            <a:avLst/>
          </a:prstGeom>
          <a:solidFill>
            <a:srgbClr val="F0F6FF"/>
          </a:solidFill>
          <a:ln w="2540">
            <a:solidFill>
              <a:srgbClr val="2E75B6"/>
            </a:solidFill>
            <a:prstDash val="solid"/>
          </a:ln>
        </p:spPr>
      </p:sp>
      <p:sp>
        <p:nvSpPr>
          <p:cNvPr id="69" name="Text 67"/>
          <p:cNvSpPr/>
          <p:nvPr/>
        </p:nvSpPr>
        <p:spPr>
          <a:xfrm>
            <a:off x="310896" y="3493008"/>
            <a:ext cx="310896" cy="274320"/>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1</a:t>
            </a:r>
            <a:endParaRPr lang="en-US" sz="750" dirty="0"/>
          </a:p>
        </p:txBody>
      </p:sp>
      <p:sp>
        <p:nvSpPr>
          <p:cNvPr id="70" name="Shape 68"/>
          <p:cNvSpPr/>
          <p:nvPr/>
        </p:nvSpPr>
        <p:spPr>
          <a:xfrm>
            <a:off x="640080" y="3493008"/>
            <a:ext cx="1554480" cy="274320"/>
          </a:xfrm>
          <a:prstGeom prst="rect">
            <a:avLst/>
          </a:prstGeom>
          <a:solidFill>
            <a:srgbClr val="F0F6FF"/>
          </a:solidFill>
          <a:ln w="2540">
            <a:solidFill>
              <a:srgbClr val="2E75B6"/>
            </a:solidFill>
            <a:prstDash val="solid"/>
          </a:ln>
        </p:spPr>
      </p:sp>
      <p:sp>
        <p:nvSpPr>
          <p:cNvPr id="71" name="Text 69"/>
          <p:cNvSpPr/>
          <p:nvPr/>
        </p:nvSpPr>
        <p:spPr>
          <a:xfrm>
            <a:off x="676656" y="3493008"/>
            <a:ext cx="1499616"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材料・部品</a:t>
            </a:r>
            <a:endParaRPr lang="en-US" sz="750" dirty="0"/>
          </a:p>
        </p:txBody>
      </p:sp>
      <p:sp>
        <p:nvSpPr>
          <p:cNvPr id="72" name="Shape 70"/>
          <p:cNvSpPr/>
          <p:nvPr/>
        </p:nvSpPr>
        <p:spPr>
          <a:xfrm>
            <a:off x="2194560" y="3493008"/>
            <a:ext cx="7799832" cy="274320"/>
          </a:xfrm>
          <a:prstGeom prst="rect">
            <a:avLst/>
          </a:prstGeom>
          <a:solidFill>
            <a:srgbClr val="F0F6FF"/>
          </a:solidFill>
          <a:ln w="2540">
            <a:solidFill>
              <a:srgbClr val="2E75B6"/>
            </a:solidFill>
            <a:prstDash val="solid"/>
          </a:ln>
        </p:spPr>
      </p:sp>
      <p:sp>
        <p:nvSpPr>
          <p:cNvPr id="73" name="Text 71"/>
          <p:cNvSpPr/>
          <p:nvPr/>
        </p:nvSpPr>
        <p:spPr>
          <a:xfrm>
            <a:off x="2231136" y="3493008"/>
            <a:ext cx="7744968"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温度補償抵抗器（R12）の温度係数がロット間ばらつきで規格±50ppm/℃に対し実測+85ppm/℃であった（ロット限定）</a:t>
            </a:r>
            <a:endParaRPr lang="en-US" sz="750" dirty="0"/>
          </a:p>
        </p:txBody>
      </p:sp>
      <p:sp>
        <p:nvSpPr>
          <p:cNvPr id="74" name="Shape 72"/>
          <p:cNvSpPr/>
          <p:nvPr/>
        </p:nvSpPr>
        <p:spPr>
          <a:xfrm>
            <a:off x="9994392" y="3493008"/>
            <a:ext cx="731520" cy="274320"/>
          </a:xfrm>
          <a:prstGeom prst="rect">
            <a:avLst/>
          </a:prstGeom>
          <a:solidFill>
            <a:srgbClr val="F0F6FF"/>
          </a:solidFill>
          <a:ln w="2540">
            <a:solidFill>
              <a:srgbClr val="2E75B6"/>
            </a:solidFill>
            <a:prstDash val="solid"/>
          </a:ln>
        </p:spPr>
      </p:sp>
      <p:sp>
        <p:nvSpPr>
          <p:cNvPr id="75" name="Text 73"/>
          <p:cNvSpPr/>
          <p:nvPr/>
        </p:nvSpPr>
        <p:spPr>
          <a:xfrm>
            <a:off x="10030968" y="3493008"/>
            <a:ext cx="676656" cy="274320"/>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a:t>
            </a:r>
            <a:endParaRPr lang="en-US" sz="750" dirty="0"/>
          </a:p>
        </p:txBody>
      </p:sp>
      <p:sp>
        <p:nvSpPr>
          <p:cNvPr id="76" name="Shape 74"/>
          <p:cNvSpPr/>
          <p:nvPr/>
        </p:nvSpPr>
        <p:spPr>
          <a:xfrm>
            <a:off x="274320" y="3785616"/>
            <a:ext cx="365760" cy="274320"/>
          </a:xfrm>
          <a:prstGeom prst="rect">
            <a:avLst/>
          </a:prstGeom>
          <a:solidFill>
            <a:srgbClr val="FFFFFF"/>
          </a:solidFill>
          <a:ln w="2540">
            <a:solidFill>
              <a:srgbClr val="2E75B6"/>
            </a:solidFill>
            <a:prstDash val="solid"/>
          </a:ln>
        </p:spPr>
      </p:sp>
      <p:sp>
        <p:nvSpPr>
          <p:cNvPr id="77" name="Text 75"/>
          <p:cNvSpPr/>
          <p:nvPr/>
        </p:nvSpPr>
        <p:spPr>
          <a:xfrm>
            <a:off x="310896" y="3785616"/>
            <a:ext cx="310896" cy="274320"/>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2</a:t>
            </a:r>
            <a:endParaRPr lang="en-US" sz="750" dirty="0"/>
          </a:p>
        </p:txBody>
      </p:sp>
      <p:sp>
        <p:nvSpPr>
          <p:cNvPr id="78" name="Shape 76"/>
          <p:cNvSpPr/>
          <p:nvPr/>
        </p:nvSpPr>
        <p:spPr>
          <a:xfrm>
            <a:off x="640080" y="3785616"/>
            <a:ext cx="1554480" cy="274320"/>
          </a:xfrm>
          <a:prstGeom prst="rect">
            <a:avLst/>
          </a:prstGeom>
          <a:solidFill>
            <a:srgbClr val="FFFFFF"/>
          </a:solidFill>
          <a:ln w="2540">
            <a:solidFill>
              <a:srgbClr val="2E75B6"/>
            </a:solidFill>
            <a:prstDash val="solid"/>
          </a:ln>
        </p:spPr>
      </p:sp>
      <p:sp>
        <p:nvSpPr>
          <p:cNvPr id="79" name="Text 77"/>
          <p:cNvSpPr/>
          <p:nvPr/>
        </p:nvSpPr>
        <p:spPr>
          <a:xfrm>
            <a:off x="676656" y="3785616"/>
            <a:ext cx="1499616"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設計</a:t>
            </a:r>
            <a:endParaRPr lang="en-US" sz="750" dirty="0"/>
          </a:p>
        </p:txBody>
      </p:sp>
      <p:sp>
        <p:nvSpPr>
          <p:cNvPr id="80" name="Shape 78"/>
          <p:cNvSpPr/>
          <p:nvPr/>
        </p:nvSpPr>
        <p:spPr>
          <a:xfrm>
            <a:off x="2194560" y="3785616"/>
            <a:ext cx="7799832" cy="274320"/>
          </a:xfrm>
          <a:prstGeom prst="rect">
            <a:avLst/>
          </a:prstGeom>
          <a:solidFill>
            <a:srgbClr val="FFFFFF"/>
          </a:solidFill>
          <a:ln w="2540">
            <a:solidFill>
              <a:srgbClr val="2E75B6"/>
            </a:solidFill>
            <a:prstDash val="solid"/>
          </a:ln>
        </p:spPr>
      </p:sp>
      <p:sp>
        <p:nvSpPr>
          <p:cNvPr id="81" name="Text 79"/>
          <p:cNvSpPr/>
          <p:nvPr/>
        </p:nvSpPr>
        <p:spPr>
          <a:xfrm>
            <a:off x="2231136" y="3785616"/>
            <a:ext cx="7744968"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60℃以上での温度補償回路の検証が設計FMEAに含まれておらず、熱ストレス試験の温度範囲が不足していた</a:t>
            </a:r>
            <a:endParaRPr lang="en-US" sz="750" dirty="0"/>
          </a:p>
        </p:txBody>
      </p:sp>
      <p:sp>
        <p:nvSpPr>
          <p:cNvPr id="82" name="Shape 80"/>
          <p:cNvSpPr/>
          <p:nvPr/>
        </p:nvSpPr>
        <p:spPr>
          <a:xfrm>
            <a:off x="9994392" y="3785616"/>
            <a:ext cx="731520" cy="274320"/>
          </a:xfrm>
          <a:prstGeom prst="rect">
            <a:avLst/>
          </a:prstGeom>
          <a:solidFill>
            <a:srgbClr val="FFFFFF"/>
          </a:solidFill>
          <a:ln w="2540">
            <a:solidFill>
              <a:srgbClr val="2E75B6"/>
            </a:solidFill>
            <a:prstDash val="solid"/>
          </a:ln>
        </p:spPr>
      </p:sp>
      <p:sp>
        <p:nvSpPr>
          <p:cNvPr id="83" name="Text 81"/>
          <p:cNvSpPr/>
          <p:nvPr/>
        </p:nvSpPr>
        <p:spPr>
          <a:xfrm>
            <a:off x="10030968" y="3785616"/>
            <a:ext cx="676656" cy="274320"/>
          </a:xfrm>
          <a:prstGeom prst="rect">
            <a:avLst/>
          </a:prstGeom>
          <a:noFill/>
          <a:ln/>
        </p:spPr>
        <p:txBody>
          <a:bodyPr wrap="square" rtlCol="0" anchor="ctr"/>
          <a:lstStyle/>
          <a:p>
            <a:pPr algn="ctr" indent="0" marL="0">
              <a:buNone/>
            </a:pPr>
            <a:endParaRPr lang="en-US" sz="750" dirty="0"/>
          </a:p>
        </p:txBody>
      </p:sp>
      <p:sp>
        <p:nvSpPr>
          <p:cNvPr id="84" name="Shape 82"/>
          <p:cNvSpPr/>
          <p:nvPr/>
        </p:nvSpPr>
        <p:spPr>
          <a:xfrm>
            <a:off x="274320" y="4078224"/>
            <a:ext cx="365760" cy="274320"/>
          </a:xfrm>
          <a:prstGeom prst="rect">
            <a:avLst/>
          </a:prstGeom>
          <a:solidFill>
            <a:srgbClr val="F0F6FF"/>
          </a:solidFill>
          <a:ln w="2540">
            <a:solidFill>
              <a:srgbClr val="2E75B6"/>
            </a:solidFill>
            <a:prstDash val="solid"/>
          </a:ln>
        </p:spPr>
      </p:sp>
      <p:sp>
        <p:nvSpPr>
          <p:cNvPr id="85" name="Text 83"/>
          <p:cNvSpPr/>
          <p:nvPr/>
        </p:nvSpPr>
        <p:spPr>
          <a:xfrm>
            <a:off x="310896" y="4078224"/>
            <a:ext cx="310896" cy="274320"/>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a:t>
            </a:r>
            <a:endParaRPr lang="en-US" sz="750" dirty="0"/>
          </a:p>
        </p:txBody>
      </p:sp>
      <p:sp>
        <p:nvSpPr>
          <p:cNvPr id="86" name="Shape 84"/>
          <p:cNvSpPr/>
          <p:nvPr/>
        </p:nvSpPr>
        <p:spPr>
          <a:xfrm>
            <a:off x="640080" y="4078224"/>
            <a:ext cx="1554480" cy="274320"/>
          </a:xfrm>
          <a:prstGeom prst="rect">
            <a:avLst/>
          </a:prstGeom>
          <a:solidFill>
            <a:srgbClr val="F0F6FF"/>
          </a:solidFill>
          <a:ln w="2540">
            <a:solidFill>
              <a:srgbClr val="2E75B6"/>
            </a:solidFill>
            <a:prstDash val="solid"/>
          </a:ln>
        </p:spPr>
      </p:sp>
      <p:sp>
        <p:nvSpPr>
          <p:cNvPr id="87" name="Text 85"/>
          <p:cNvSpPr/>
          <p:nvPr/>
        </p:nvSpPr>
        <p:spPr>
          <a:xfrm>
            <a:off x="676656" y="4078224"/>
            <a:ext cx="1499616"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工程管理</a:t>
            </a:r>
            <a:endParaRPr lang="en-US" sz="750" dirty="0"/>
          </a:p>
        </p:txBody>
      </p:sp>
      <p:sp>
        <p:nvSpPr>
          <p:cNvPr id="88" name="Shape 86"/>
          <p:cNvSpPr/>
          <p:nvPr/>
        </p:nvSpPr>
        <p:spPr>
          <a:xfrm>
            <a:off x="2194560" y="4078224"/>
            <a:ext cx="7799832" cy="274320"/>
          </a:xfrm>
          <a:prstGeom prst="rect">
            <a:avLst/>
          </a:prstGeom>
          <a:solidFill>
            <a:srgbClr val="F0F6FF"/>
          </a:solidFill>
          <a:ln w="2540">
            <a:solidFill>
              <a:srgbClr val="2E75B6"/>
            </a:solidFill>
            <a:prstDash val="solid"/>
          </a:ln>
        </p:spPr>
      </p:sp>
      <p:sp>
        <p:nvSpPr>
          <p:cNvPr id="89" name="Text 87"/>
          <p:cNvSpPr/>
          <p:nvPr/>
        </p:nvSpPr>
        <p:spPr>
          <a:xfrm>
            <a:off x="2231136" y="4078224"/>
            <a:ext cx="7744968"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受入検査での抵抗器温度係数測定が実施されておらず、外観・抵抗値のみの確認であった</a:t>
            </a:r>
            <a:endParaRPr lang="en-US" sz="750" dirty="0"/>
          </a:p>
        </p:txBody>
      </p:sp>
      <p:sp>
        <p:nvSpPr>
          <p:cNvPr id="90" name="Shape 88"/>
          <p:cNvSpPr/>
          <p:nvPr/>
        </p:nvSpPr>
        <p:spPr>
          <a:xfrm>
            <a:off x="9994392" y="4078224"/>
            <a:ext cx="731520" cy="274320"/>
          </a:xfrm>
          <a:prstGeom prst="rect">
            <a:avLst/>
          </a:prstGeom>
          <a:solidFill>
            <a:srgbClr val="F0F6FF"/>
          </a:solidFill>
          <a:ln w="2540">
            <a:solidFill>
              <a:srgbClr val="2E75B6"/>
            </a:solidFill>
            <a:prstDash val="solid"/>
          </a:ln>
        </p:spPr>
      </p:sp>
      <p:sp>
        <p:nvSpPr>
          <p:cNvPr id="91" name="Text 89"/>
          <p:cNvSpPr/>
          <p:nvPr/>
        </p:nvSpPr>
        <p:spPr>
          <a:xfrm>
            <a:off x="10030968" y="4078224"/>
            <a:ext cx="676656" cy="274320"/>
          </a:xfrm>
          <a:prstGeom prst="rect">
            <a:avLst/>
          </a:prstGeom>
          <a:noFill/>
          <a:ln/>
        </p:spPr>
        <p:txBody>
          <a:bodyPr wrap="square" rtlCol="0" anchor="ctr"/>
          <a:lstStyle/>
          <a:p>
            <a:pPr algn="ctr" indent="0" marL="0">
              <a:buNone/>
            </a:pPr>
            <a:endParaRPr lang="en-US" sz="750" dirty="0"/>
          </a:p>
        </p:txBody>
      </p:sp>
      <p:sp>
        <p:nvSpPr>
          <p:cNvPr id="92" name="Shape 90"/>
          <p:cNvSpPr/>
          <p:nvPr/>
        </p:nvSpPr>
        <p:spPr>
          <a:xfrm>
            <a:off x="274320" y="4370832"/>
            <a:ext cx="365760" cy="274320"/>
          </a:xfrm>
          <a:prstGeom prst="rect">
            <a:avLst/>
          </a:prstGeom>
          <a:solidFill>
            <a:srgbClr val="FFFFFF"/>
          </a:solidFill>
          <a:ln w="2540">
            <a:solidFill>
              <a:srgbClr val="2E75B6"/>
            </a:solidFill>
            <a:prstDash val="solid"/>
          </a:ln>
        </p:spPr>
      </p:sp>
      <p:sp>
        <p:nvSpPr>
          <p:cNvPr id="93" name="Text 91"/>
          <p:cNvSpPr/>
          <p:nvPr/>
        </p:nvSpPr>
        <p:spPr>
          <a:xfrm>
            <a:off x="310896" y="4370832"/>
            <a:ext cx="310896" cy="274320"/>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4</a:t>
            </a:r>
            <a:endParaRPr lang="en-US" sz="750" dirty="0"/>
          </a:p>
        </p:txBody>
      </p:sp>
      <p:sp>
        <p:nvSpPr>
          <p:cNvPr id="94" name="Shape 92"/>
          <p:cNvSpPr/>
          <p:nvPr/>
        </p:nvSpPr>
        <p:spPr>
          <a:xfrm>
            <a:off x="640080" y="4370832"/>
            <a:ext cx="1554480" cy="274320"/>
          </a:xfrm>
          <a:prstGeom prst="rect">
            <a:avLst/>
          </a:prstGeom>
          <a:solidFill>
            <a:srgbClr val="FFFFFF"/>
          </a:solidFill>
          <a:ln w="2540">
            <a:solidFill>
              <a:srgbClr val="2E75B6"/>
            </a:solidFill>
            <a:prstDash val="solid"/>
          </a:ln>
        </p:spPr>
      </p:sp>
      <p:sp>
        <p:nvSpPr>
          <p:cNvPr id="95" name="Text 93"/>
          <p:cNvSpPr/>
          <p:nvPr/>
        </p:nvSpPr>
        <p:spPr>
          <a:xfrm>
            <a:off x="676656" y="4370832"/>
            <a:ext cx="1499616"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測定・検査</a:t>
            </a:r>
            <a:endParaRPr lang="en-US" sz="750" dirty="0"/>
          </a:p>
        </p:txBody>
      </p:sp>
      <p:sp>
        <p:nvSpPr>
          <p:cNvPr id="96" name="Shape 94"/>
          <p:cNvSpPr/>
          <p:nvPr/>
        </p:nvSpPr>
        <p:spPr>
          <a:xfrm>
            <a:off x="2194560" y="4370832"/>
            <a:ext cx="7799832" cy="274320"/>
          </a:xfrm>
          <a:prstGeom prst="rect">
            <a:avLst/>
          </a:prstGeom>
          <a:solidFill>
            <a:srgbClr val="FFFFFF"/>
          </a:solidFill>
          <a:ln w="2540">
            <a:solidFill>
              <a:srgbClr val="2E75B6"/>
            </a:solidFill>
            <a:prstDash val="solid"/>
          </a:ln>
        </p:spPr>
      </p:sp>
      <p:sp>
        <p:nvSpPr>
          <p:cNvPr id="97" name="Text 95"/>
          <p:cNvSpPr/>
          <p:nvPr/>
        </p:nvSpPr>
        <p:spPr>
          <a:xfrm>
            <a:off x="2231136" y="4370832"/>
            <a:ext cx="7744968" cy="274320"/>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出荷前校正が25℃単点のみ。多点温度校正（-20, 25, 60, 85℃）が未実施</a:t>
            </a:r>
            <a:endParaRPr lang="en-US" sz="750" dirty="0"/>
          </a:p>
        </p:txBody>
      </p:sp>
      <p:sp>
        <p:nvSpPr>
          <p:cNvPr id="98" name="Shape 96"/>
          <p:cNvSpPr/>
          <p:nvPr/>
        </p:nvSpPr>
        <p:spPr>
          <a:xfrm>
            <a:off x="9994392" y="4370832"/>
            <a:ext cx="731520" cy="274320"/>
          </a:xfrm>
          <a:prstGeom prst="rect">
            <a:avLst/>
          </a:prstGeom>
          <a:solidFill>
            <a:srgbClr val="FFFFFF"/>
          </a:solidFill>
          <a:ln w="2540">
            <a:solidFill>
              <a:srgbClr val="2E75B6"/>
            </a:solidFill>
            <a:prstDash val="solid"/>
          </a:ln>
        </p:spPr>
      </p:sp>
      <p:sp>
        <p:nvSpPr>
          <p:cNvPr id="99" name="Text 97"/>
          <p:cNvSpPr/>
          <p:nvPr/>
        </p:nvSpPr>
        <p:spPr>
          <a:xfrm>
            <a:off x="10030968" y="4370832"/>
            <a:ext cx="676656" cy="274320"/>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a:t>
            </a:r>
            <a:endParaRPr lang="en-US" sz="750" dirty="0"/>
          </a:p>
        </p:txBody>
      </p:sp>
      <p:sp>
        <p:nvSpPr>
          <p:cNvPr id="100" name="Shape 98"/>
          <p:cNvSpPr/>
          <p:nvPr/>
        </p:nvSpPr>
        <p:spPr>
          <a:xfrm>
            <a:off x="274320" y="4736592"/>
            <a:ext cx="11640312" cy="384048"/>
          </a:xfrm>
          <a:prstGeom prst="rect">
            <a:avLst/>
          </a:prstGeom>
          <a:solidFill>
            <a:srgbClr val="FFF3E0"/>
          </a:solidFill>
          <a:ln w="10160">
            <a:solidFill>
              <a:srgbClr val="E65100"/>
            </a:solidFill>
            <a:prstDash val="solid"/>
          </a:ln>
        </p:spPr>
      </p:sp>
      <p:sp>
        <p:nvSpPr>
          <p:cNvPr id="101" name="Text 99"/>
          <p:cNvSpPr/>
          <p:nvPr/>
        </p:nvSpPr>
        <p:spPr>
          <a:xfrm>
            <a:off x="365760" y="4736592"/>
            <a:ext cx="11457432" cy="384048"/>
          </a:xfrm>
          <a:prstGeom prst="rect">
            <a:avLst/>
          </a:prstGeom>
          <a:noFill/>
          <a:ln/>
        </p:spPr>
        <p:txBody>
          <a:bodyPr wrap="square" rtlCol="0" anchor="ctr"/>
          <a:lstStyle/>
          <a:p>
            <a:pPr indent="0" marL="0">
              <a:buNone/>
            </a:pPr>
            <a:r>
              <a:rPr lang="en-US" sz="900" b="1" dirty="0">
                <a:solidFill>
                  <a:srgbClr val="E65100"/>
                </a:solidFill>
                <a:latin typeface="Calibri" pitchFamily="34" charset="0"/>
                <a:ea typeface="Calibri" pitchFamily="34" charset="-122"/>
                <a:cs typeface="Calibri" pitchFamily="34" charset="-120"/>
              </a:rPr>
              <a:t>【真の根本原因】① R12温度係数のロット管理欠如（受入検査未実施）　② 高温多点校正の出荷基準への未組込み</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A3A5C"/>
          </a:solidFill>
          <a:ln w="12700">
            <a:solidFill>
              <a:srgbClr val="1A3A5C"/>
            </a:solidFill>
            <a:prstDash val="solid"/>
          </a:ln>
        </p:spPr>
      </p:sp>
      <p:sp>
        <p:nvSpPr>
          <p:cNvPr id="3" name="Shape 1"/>
          <p:cNvSpPr/>
          <p:nvPr/>
        </p:nvSpPr>
        <p:spPr>
          <a:xfrm>
            <a:off x="0" y="0"/>
            <a:ext cx="109728" cy="914400"/>
          </a:xfrm>
          <a:prstGeom prst="rect">
            <a:avLst/>
          </a:prstGeom>
          <a:solidFill>
            <a:srgbClr val="C62828"/>
          </a:solidFill>
          <a:ln w="12700">
            <a:solidFill>
              <a:srgbClr val="C62828"/>
            </a:solidFill>
            <a:prstDash val="solid"/>
          </a:ln>
        </p:spPr>
      </p:sp>
      <p:sp>
        <p:nvSpPr>
          <p:cNvPr id="4" name="Text 2"/>
          <p:cNvSpPr/>
          <p:nvPr/>
        </p:nvSpPr>
        <p:spPr>
          <a:xfrm>
            <a:off x="201168" y="36576"/>
            <a:ext cx="4572000" cy="365760"/>
          </a:xfrm>
          <a:prstGeom prst="rect">
            <a:avLst/>
          </a:prstGeom>
          <a:noFill/>
          <a:ln/>
        </p:spPr>
        <p:txBody>
          <a:bodyPr wrap="square" rtlCol="0" anchor="ctr"/>
          <a:lstStyle/>
          <a:p>
            <a:pPr indent="0" marL="0">
              <a:buNone/>
            </a:pPr>
            <a:r>
              <a:rPr lang="en-US" sz="1100" dirty="0">
                <a:solidFill>
                  <a:srgbClr val="D6E4F0"/>
                </a:solidFill>
                <a:latin typeface="Calibri" pitchFamily="34" charset="0"/>
                <a:ea typeface="Calibri" pitchFamily="34" charset="-122"/>
                <a:cs typeface="Calibri" pitchFamily="34" charset="-120"/>
              </a:rPr>
              <a:t>8D レポート</a:t>
            </a:r>
            <a:endParaRPr lang="en-US" sz="1100" dirty="0"/>
          </a:p>
        </p:txBody>
      </p:sp>
      <p:sp>
        <p:nvSpPr>
          <p:cNvPr id="5" name="Text 3"/>
          <p:cNvSpPr/>
          <p:nvPr/>
        </p:nvSpPr>
        <p:spPr>
          <a:xfrm>
            <a:off x="201168" y="384048"/>
            <a:ext cx="8686800" cy="47548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D5: 恒久是正処置　／　D6: 実施　／　効果確認</a:t>
            </a:r>
            <a:endParaRPr lang="en-US" sz="1800" dirty="0"/>
          </a:p>
        </p:txBody>
      </p:sp>
      <p:sp>
        <p:nvSpPr>
          <p:cNvPr id="6" name="Text 4"/>
          <p:cNvSpPr/>
          <p:nvPr/>
        </p:nvSpPr>
        <p:spPr>
          <a:xfrm>
            <a:off x="8961120" y="91440"/>
            <a:ext cx="3108960" cy="685800"/>
          </a:xfrm>
          <a:prstGeom prst="rect">
            <a:avLst/>
          </a:prstGeom>
          <a:noFill/>
          <a:ln/>
        </p:spPr>
        <p:txBody>
          <a:bodyPr wrap="square" rtlCol="0" anchor="ctr"/>
          <a:lstStyle/>
          <a:p>
            <a:pPr algn="r" indent="0" marL="0">
              <a:buNone/>
            </a:pPr>
            <a:r>
              <a:rPr lang="en-US" sz="800" dirty="0">
                <a:solidFill>
                  <a:srgbClr val="D6E4F0"/>
                </a:solidFill>
                <a:latin typeface="Calibri" pitchFamily="34" charset="0"/>
                <a:ea typeface="Calibri" pitchFamily="34" charset="-122"/>
                <a:cs typeface="Calibri" pitchFamily="34" charset="-120"/>
              </a:rPr>
              <a:t>文書番号: 8D-2025-001　Rev.B　</a:t>
            </a:r>
            <a:endParaRPr lang="en-US" sz="800" dirty="0"/>
          </a:p>
          <a:p>
            <a:pPr algn="r" indent="0" marL="0">
              <a:buNone/>
            </a:pPr>
            <a:r>
              <a:rPr lang="en-US" sz="800" dirty="0">
                <a:solidFill>
                  <a:srgbClr val="D6E4F0"/>
                </a:solidFill>
                <a:latin typeface="Calibri" pitchFamily="34" charset="0"/>
                <a:ea typeface="Calibri" pitchFamily="34" charset="-122"/>
                <a:cs typeface="Calibri" pitchFamily="34" charset="-120"/>
              </a:rPr>
              <a:t>発行日: 2025年4月5日　製造株式会社</a:t>
            </a:r>
            <a:endParaRPr lang="en-US" sz="800" dirty="0"/>
          </a:p>
        </p:txBody>
      </p:sp>
      <p:sp>
        <p:nvSpPr>
          <p:cNvPr id="7" name="Shape 5"/>
          <p:cNvSpPr/>
          <p:nvPr/>
        </p:nvSpPr>
        <p:spPr>
          <a:xfrm>
            <a:off x="9966960" y="621792"/>
            <a:ext cx="1645920" cy="256032"/>
          </a:xfrm>
          <a:prstGeom prst="roundRect">
            <a:avLst>
              <a:gd name="adj" fmla="val 17857"/>
            </a:avLst>
          </a:prstGeom>
          <a:solidFill>
            <a:srgbClr val="1B5E20"/>
          </a:solidFill>
          <a:ln w="12700">
            <a:solidFill>
              <a:srgbClr val="1B5E20"/>
            </a:solidFill>
            <a:prstDash val="solid"/>
          </a:ln>
        </p:spPr>
      </p:sp>
      <p:sp>
        <p:nvSpPr>
          <p:cNvPr id="8" name="Text 6"/>
          <p:cNvSpPr/>
          <p:nvPr/>
        </p:nvSpPr>
        <p:spPr>
          <a:xfrm>
            <a:off x="9966960" y="621792"/>
            <a:ext cx="164592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クローズ済</a:t>
            </a:r>
            <a:endParaRPr lang="en-US" sz="800" dirty="0"/>
          </a:p>
        </p:txBody>
      </p:sp>
      <p:sp>
        <p:nvSpPr>
          <p:cNvPr id="9" name="Shape 7"/>
          <p:cNvSpPr/>
          <p:nvPr/>
        </p:nvSpPr>
        <p:spPr>
          <a:xfrm>
            <a:off x="0" y="6565392"/>
            <a:ext cx="12188952" cy="292608"/>
          </a:xfrm>
          <a:prstGeom prst="rect">
            <a:avLst/>
          </a:prstGeom>
          <a:solidFill>
            <a:srgbClr val="1A3A5C"/>
          </a:solidFill>
          <a:ln w="12700">
            <a:solidFill>
              <a:srgbClr val="1A3A5C"/>
            </a:solidFill>
            <a:prstDash val="solid"/>
          </a:ln>
        </p:spPr>
      </p:sp>
      <p:sp>
        <p:nvSpPr>
          <p:cNvPr id="10" name="Text 8"/>
          <p:cNvSpPr/>
          <p:nvPr/>
        </p:nvSpPr>
        <p:spPr>
          <a:xfrm>
            <a:off x="182880" y="6583680"/>
            <a:ext cx="8229600" cy="256032"/>
          </a:xfrm>
          <a:prstGeom prst="rect">
            <a:avLst/>
          </a:prstGeom>
          <a:noFill/>
          <a:ln/>
        </p:spPr>
        <p:txBody>
          <a:bodyPr wrap="square" rtlCol="0" anchor="ctr"/>
          <a:lstStyle/>
          <a:p>
            <a:pPr indent="0" marL="0">
              <a:buNone/>
            </a:pPr>
            <a:r>
              <a:rPr lang="en-US" sz="700" dirty="0">
                <a:solidFill>
                  <a:srgbClr val="D6E4F0"/>
                </a:solidFill>
                <a:latin typeface="Calibri" pitchFamily="34" charset="0"/>
                <a:ea typeface="Calibri" pitchFamily="34" charset="-122"/>
                <a:cs typeface="Calibri" pitchFamily="34" charset="-120"/>
              </a:rPr>
              <a:t>© 製造株式会社　このドキュメントは社外秘です。</a:t>
            </a:r>
            <a:endParaRPr lang="en-US" sz="700" dirty="0"/>
          </a:p>
        </p:txBody>
      </p:sp>
      <p:sp>
        <p:nvSpPr>
          <p:cNvPr id="11" name="Text 9"/>
          <p:cNvSpPr/>
          <p:nvPr/>
        </p:nvSpPr>
        <p:spPr>
          <a:xfrm>
            <a:off x="11274552" y="6583680"/>
            <a:ext cx="731520" cy="256032"/>
          </a:xfrm>
          <a:prstGeom prst="rect">
            <a:avLst/>
          </a:prstGeom>
          <a:noFill/>
          <a:ln/>
        </p:spPr>
        <p:txBody>
          <a:bodyPr wrap="square" rtlCol="0" anchor="ctr"/>
          <a:lstStyle/>
          <a:p>
            <a:pPr algn="r" indent="0" marL="0">
              <a:buNone/>
            </a:pPr>
            <a:r>
              <a:rPr lang="en-US" sz="700" dirty="0">
                <a:solidFill>
                  <a:srgbClr val="D6E4F0"/>
                </a:solidFill>
                <a:latin typeface="Calibri" pitchFamily="34" charset="0"/>
                <a:ea typeface="Calibri" pitchFamily="34" charset="-122"/>
                <a:cs typeface="Calibri" pitchFamily="34" charset="-120"/>
              </a:rPr>
              <a:t>3 / 4</a:t>
            </a:r>
            <a:endParaRPr lang="en-US" sz="700" dirty="0"/>
          </a:p>
        </p:txBody>
      </p:sp>
      <p:sp>
        <p:nvSpPr>
          <p:cNvPr id="12" name="Shape 10"/>
          <p:cNvSpPr/>
          <p:nvPr/>
        </p:nvSpPr>
        <p:spPr>
          <a:xfrm>
            <a:off x="274320" y="1005840"/>
            <a:ext cx="7680960" cy="329184"/>
          </a:xfrm>
          <a:prstGeom prst="rect">
            <a:avLst/>
          </a:prstGeom>
          <a:solidFill>
            <a:srgbClr val="1B5E20"/>
          </a:solidFill>
          <a:ln w="12700">
            <a:solidFill>
              <a:srgbClr val="1B5E20"/>
            </a:solidFill>
            <a:prstDash val="solid"/>
          </a:ln>
        </p:spPr>
      </p:sp>
      <p:sp>
        <p:nvSpPr>
          <p:cNvPr id="13" name="Shape 11"/>
          <p:cNvSpPr/>
          <p:nvPr/>
        </p:nvSpPr>
        <p:spPr>
          <a:xfrm>
            <a:off x="329184" y="1051560"/>
            <a:ext cx="512064" cy="237744"/>
          </a:xfrm>
          <a:prstGeom prst="roundRect">
            <a:avLst>
              <a:gd name="adj" fmla="val 30769"/>
            </a:avLst>
          </a:prstGeom>
          <a:solidFill>
            <a:srgbClr val="FFFFFF"/>
          </a:solidFill>
          <a:ln w="12700">
            <a:solidFill>
              <a:srgbClr val="FFFFFF"/>
            </a:solidFill>
            <a:prstDash val="solid"/>
          </a:ln>
        </p:spPr>
      </p:sp>
      <p:sp>
        <p:nvSpPr>
          <p:cNvPr id="14" name="Text 12"/>
          <p:cNvSpPr/>
          <p:nvPr/>
        </p:nvSpPr>
        <p:spPr>
          <a:xfrm>
            <a:off x="329184" y="1051560"/>
            <a:ext cx="512064" cy="237744"/>
          </a:xfrm>
          <a:prstGeom prst="rect">
            <a:avLst/>
          </a:prstGeom>
          <a:noFill/>
          <a:ln/>
        </p:spPr>
        <p:txBody>
          <a:bodyPr wrap="square" rtlCol="0" anchor="ctr"/>
          <a:lstStyle/>
          <a:p>
            <a:pPr algn="ctr" indent="0" marL="0">
              <a:buNone/>
            </a:pPr>
            <a:r>
              <a:rPr lang="en-US" sz="900" b="1" dirty="0">
                <a:solidFill>
                  <a:srgbClr val="1B5E20"/>
                </a:solidFill>
                <a:latin typeface="Calibri" pitchFamily="34" charset="0"/>
                <a:ea typeface="Calibri" pitchFamily="34" charset="-122"/>
                <a:cs typeface="Calibri" pitchFamily="34" charset="-120"/>
              </a:rPr>
              <a:t>D5</a:t>
            </a:r>
            <a:endParaRPr lang="en-US" sz="900" dirty="0"/>
          </a:p>
        </p:txBody>
      </p:sp>
      <p:sp>
        <p:nvSpPr>
          <p:cNvPr id="15" name="Text 13"/>
          <p:cNvSpPr/>
          <p:nvPr/>
        </p:nvSpPr>
        <p:spPr>
          <a:xfrm>
            <a:off x="896112" y="1060704"/>
            <a:ext cx="7004304"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恒久是正処置の選定と検証</a:t>
            </a:r>
            <a:endParaRPr lang="en-US" sz="1100" dirty="0"/>
          </a:p>
        </p:txBody>
      </p:sp>
      <p:sp>
        <p:nvSpPr>
          <p:cNvPr id="16" name="Shape 14"/>
          <p:cNvSpPr/>
          <p:nvPr/>
        </p:nvSpPr>
        <p:spPr>
          <a:xfrm>
            <a:off x="274320" y="1371600"/>
            <a:ext cx="4023360" cy="274320"/>
          </a:xfrm>
          <a:prstGeom prst="rect">
            <a:avLst/>
          </a:prstGeom>
          <a:solidFill>
            <a:srgbClr val="2E75B6"/>
          </a:solidFill>
          <a:ln w="6350">
            <a:solidFill>
              <a:srgbClr val="FFFFFF"/>
            </a:solidFill>
            <a:prstDash val="solid"/>
          </a:ln>
        </p:spPr>
      </p:sp>
      <p:sp>
        <p:nvSpPr>
          <p:cNvPr id="17" name="Text 15"/>
          <p:cNvSpPr/>
          <p:nvPr/>
        </p:nvSpPr>
        <p:spPr>
          <a:xfrm>
            <a:off x="310896" y="1371600"/>
            <a:ext cx="396849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是正処置内容</a:t>
            </a:r>
            <a:endParaRPr lang="en-US" sz="800" dirty="0"/>
          </a:p>
        </p:txBody>
      </p:sp>
      <p:sp>
        <p:nvSpPr>
          <p:cNvPr id="18" name="Shape 16"/>
          <p:cNvSpPr/>
          <p:nvPr/>
        </p:nvSpPr>
        <p:spPr>
          <a:xfrm>
            <a:off x="4297680" y="1371600"/>
            <a:ext cx="1280160" cy="274320"/>
          </a:xfrm>
          <a:prstGeom prst="rect">
            <a:avLst/>
          </a:prstGeom>
          <a:solidFill>
            <a:srgbClr val="2E75B6"/>
          </a:solidFill>
          <a:ln w="6350">
            <a:solidFill>
              <a:srgbClr val="FFFFFF"/>
            </a:solidFill>
            <a:prstDash val="solid"/>
          </a:ln>
        </p:spPr>
      </p:sp>
      <p:sp>
        <p:nvSpPr>
          <p:cNvPr id="19" name="Text 17"/>
          <p:cNvSpPr/>
          <p:nvPr/>
        </p:nvSpPr>
        <p:spPr>
          <a:xfrm>
            <a:off x="4334256" y="1371600"/>
            <a:ext cx="122529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担当</a:t>
            </a:r>
            <a:endParaRPr lang="en-US" sz="800" dirty="0"/>
          </a:p>
        </p:txBody>
      </p:sp>
      <p:sp>
        <p:nvSpPr>
          <p:cNvPr id="20" name="Shape 18"/>
          <p:cNvSpPr/>
          <p:nvPr/>
        </p:nvSpPr>
        <p:spPr>
          <a:xfrm>
            <a:off x="5577840" y="1371600"/>
            <a:ext cx="731520" cy="274320"/>
          </a:xfrm>
          <a:prstGeom prst="rect">
            <a:avLst/>
          </a:prstGeom>
          <a:solidFill>
            <a:srgbClr val="2E75B6"/>
          </a:solidFill>
          <a:ln w="6350">
            <a:solidFill>
              <a:srgbClr val="FFFFFF"/>
            </a:solidFill>
            <a:prstDash val="solid"/>
          </a:ln>
        </p:spPr>
      </p:sp>
      <p:sp>
        <p:nvSpPr>
          <p:cNvPr id="21" name="Text 19"/>
          <p:cNvSpPr/>
          <p:nvPr/>
        </p:nvSpPr>
        <p:spPr>
          <a:xfrm>
            <a:off x="5614416" y="1371600"/>
            <a:ext cx="67665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期限</a:t>
            </a:r>
            <a:endParaRPr lang="en-US" sz="800" dirty="0"/>
          </a:p>
        </p:txBody>
      </p:sp>
      <p:sp>
        <p:nvSpPr>
          <p:cNvPr id="22" name="Shape 20"/>
          <p:cNvSpPr/>
          <p:nvPr/>
        </p:nvSpPr>
        <p:spPr>
          <a:xfrm>
            <a:off x="6309360" y="1371600"/>
            <a:ext cx="1261872" cy="274320"/>
          </a:xfrm>
          <a:prstGeom prst="rect">
            <a:avLst/>
          </a:prstGeom>
          <a:solidFill>
            <a:srgbClr val="2E75B6"/>
          </a:solidFill>
          <a:ln w="6350">
            <a:solidFill>
              <a:srgbClr val="FFFFFF"/>
            </a:solidFill>
            <a:prstDash val="solid"/>
          </a:ln>
        </p:spPr>
      </p:sp>
      <p:sp>
        <p:nvSpPr>
          <p:cNvPr id="23" name="Text 21"/>
          <p:cNvSpPr/>
          <p:nvPr/>
        </p:nvSpPr>
        <p:spPr>
          <a:xfrm>
            <a:off x="6345936" y="1371600"/>
            <a:ext cx="1207008"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有効性確認</a:t>
            </a:r>
            <a:endParaRPr lang="en-US" sz="800" dirty="0"/>
          </a:p>
        </p:txBody>
      </p:sp>
      <p:sp>
        <p:nvSpPr>
          <p:cNvPr id="24" name="Shape 22"/>
          <p:cNvSpPr/>
          <p:nvPr/>
        </p:nvSpPr>
        <p:spPr>
          <a:xfrm>
            <a:off x="274320" y="1645920"/>
            <a:ext cx="4023360" cy="256032"/>
          </a:xfrm>
          <a:prstGeom prst="rect">
            <a:avLst/>
          </a:prstGeom>
          <a:solidFill>
            <a:srgbClr val="F0F6FF"/>
          </a:solidFill>
          <a:ln w="2540">
            <a:solidFill>
              <a:srgbClr val="2E75B6"/>
            </a:solidFill>
            <a:prstDash val="solid"/>
          </a:ln>
        </p:spPr>
      </p:sp>
      <p:sp>
        <p:nvSpPr>
          <p:cNvPr id="25" name="Text 23"/>
          <p:cNvSpPr/>
          <p:nvPr/>
        </p:nvSpPr>
        <p:spPr>
          <a:xfrm>
            <a:off x="310896" y="1645920"/>
            <a:ext cx="396849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R12 抵抗器の受入検査に温度係数測定（-20〜85℃）を追加</a:t>
            </a:r>
            <a:endParaRPr lang="en-US" sz="750" dirty="0"/>
          </a:p>
        </p:txBody>
      </p:sp>
      <p:sp>
        <p:nvSpPr>
          <p:cNvPr id="26" name="Shape 24"/>
          <p:cNvSpPr/>
          <p:nvPr/>
        </p:nvSpPr>
        <p:spPr>
          <a:xfrm>
            <a:off x="4297680" y="1645920"/>
            <a:ext cx="1280160" cy="256032"/>
          </a:xfrm>
          <a:prstGeom prst="rect">
            <a:avLst/>
          </a:prstGeom>
          <a:solidFill>
            <a:srgbClr val="F0F6FF"/>
          </a:solidFill>
          <a:ln w="2540">
            <a:solidFill>
              <a:srgbClr val="2E75B6"/>
            </a:solidFill>
            <a:prstDash val="solid"/>
          </a:ln>
        </p:spPr>
      </p:sp>
      <p:sp>
        <p:nvSpPr>
          <p:cNvPr id="27" name="Text 25"/>
          <p:cNvSpPr/>
          <p:nvPr/>
        </p:nvSpPr>
        <p:spPr>
          <a:xfrm>
            <a:off x="4334256" y="1645920"/>
            <a:ext cx="122529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品証部</a:t>
            </a:r>
            <a:endParaRPr lang="en-US" sz="750" dirty="0"/>
          </a:p>
        </p:txBody>
      </p:sp>
      <p:sp>
        <p:nvSpPr>
          <p:cNvPr id="28" name="Shape 26"/>
          <p:cNvSpPr/>
          <p:nvPr/>
        </p:nvSpPr>
        <p:spPr>
          <a:xfrm>
            <a:off x="5577840" y="1645920"/>
            <a:ext cx="731520" cy="256032"/>
          </a:xfrm>
          <a:prstGeom prst="rect">
            <a:avLst/>
          </a:prstGeom>
          <a:solidFill>
            <a:srgbClr val="F0F6FF"/>
          </a:solidFill>
          <a:ln w="2540">
            <a:solidFill>
              <a:srgbClr val="2E75B6"/>
            </a:solidFill>
            <a:prstDash val="solid"/>
          </a:ln>
        </p:spPr>
      </p:sp>
      <p:sp>
        <p:nvSpPr>
          <p:cNvPr id="29" name="Text 27"/>
          <p:cNvSpPr/>
          <p:nvPr/>
        </p:nvSpPr>
        <p:spPr>
          <a:xfrm>
            <a:off x="5614416" y="164592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3/15</a:t>
            </a:r>
            <a:endParaRPr lang="en-US" sz="750" dirty="0"/>
          </a:p>
        </p:txBody>
      </p:sp>
      <p:sp>
        <p:nvSpPr>
          <p:cNvPr id="30" name="Shape 28"/>
          <p:cNvSpPr/>
          <p:nvPr/>
        </p:nvSpPr>
        <p:spPr>
          <a:xfrm>
            <a:off x="6309360" y="1645920"/>
            <a:ext cx="1261872" cy="256032"/>
          </a:xfrm>
          <a:prstGeom prst="rect">
            <a:avLst/>
          </a:prstGeom>
          <a:solidFill>
            <a:srgbClr val="F0F6FF"/>
          </a:solidFill>
          <a:ln w="2540">
            <a:solidFill>
              <a:srgbClr val="2E75B6"/>
            </a:solidFill>
            <a:prstDash val="solid"/>
          </a:ln>
        </p:spPr>
      </p:sp>
      <p:sp>
        <p:nvSpPr>
          <p:cNvPr id="31" name="Text 29"/>
          <p:cNvSpPr/>
          <p:nvPr/>
        </p:nvSpPr>
        <p:spPr>
          <a:xfrm>
            <a:off x="6345936" y="1645920"/>
            <a:ext cx="12070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測定記録</a:t>
            </a:r>
            <a:endParaRPr lang="en-US" sz="750" dirty="0"/>
          </a:p>
        </p:txBody>
      </p:sp>
      <p:sp>
        <p:nvSpPr>
          <p:cNvPr id="32" name="Shape 30"/>
          <p:cNvSpPr/>
          <p:nvPr/>
        </p:nvSpPr>
        <p:spPr>
          <a:xfrm>
            <a:off x="274320" y="1920240"/>
            <a:ext cx="4023360" cy="256032"/>
          </a:xfrm>
          <a:prstGeom prst="rect">
            <a:avLst/>
          </a:prstGeom>
          <a:solidFill>
            <a:srgbClr val="FFFFFF"/>
          </a:solidFill>
          <a:ln w="2540">
            <a:solidFill>
              <a:srgbClr val="2E75B6"/>
            </a:solidFill>
            <a:prstDash val="solid"/>
          </a:ln>
        </p:spPr>
      </p:sp>
      <p:sp>
        <p:nvSpPr>
          <p:cNvPr id="33" name="Text 31"/>
          <p:cNvSpPr/>
          <p:nvPr/>
        </p:nvSpPr>
        <p:spPr>
          <a:xfrm>
            <a:off x="310896" y="1920240"/>
            <a:ext cx="396849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出荷前全数多点温度校正（4点）を検査基準書に追加</a:t>
            </a:r>
            <a:endParaRPr lang="en-US" sz="750" dirty="0"/>
          </a:p>
        </p:txBody>
      </p:sp>
      <p:sp>
        <p:nvSpPr>
          <p:cNvPr id="34" name="Shape 32"/>
          <p:cNvSpPr/>
          <p:nvPr/>
        </p:nvSpPr>
        <p:spPr>
          <a:xfrm>
            <a:off x="4297680" y="1920240"/>
            <a:ext cx="1280160" cy="256032"/>
          </a:xfrm>
          <a:prstGeom prst="rect">
            <a:avLst/>
          </a:prstGeom>
          <a:solidFill>
            <a:srgbClr val="FFFFFF"/>
          </a:solidFill>
          <a:ln w="2540">
            <a:solidFill>
              <a:srgbClr val="2E75B6"/>
            </a:solidFill>
            <a:prstDash val="solid"/>
          </a:ln>
        </p:spPr>
      </p:sp>
      <p:sp>
        <p:nvSpPr>
          <p:cNvPr id="35" name="Text 33"/>
          <p:cNvSpPr/>
          <p:nvPr/>
        </p:nvSpPr>
        <p:spPr>
          <a:xfrm>
            <a:off x="4334256" y="1920240"/>
            <a:ext cx="122529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開発部</a:t>
            </a:r>
            <a:endParaRPr lang="en-US" sz="750" dirty="0"/>
          </a:p>
        </p:txBody>
      </p:sp>
      <p:sp>
        <p:nvSpPr>
          <p:cNvPr id="36" name="Shape 34"/>
          <p:cNvSpPr/>
          <p:nvPr/>
        </p:nvSpPr>
        <p:spPr>
          <a:xfrm>
            <a:off x="5577840" y="1920240"/>
            <a:ext cx="731520" cy="256032"/>
          </a:xfrm>
          <a:prstGeom prst="rect">
            <a:avLst/>
          </a:prstGeom>
          <a:solidFill>
            <a:srgbClr val="FFFFFF"/>
          </a:solidFill>
          <a:ln w="2540">
            <a:solidFill>
              <a:srgbClr val="2E75B6"/>
            </a:solidFill>
            <a:prstDash val="solid"/>
          </a:ln>
        </p:spPr>
      </p:sp>
      <p:sp>
        <p:nvSpPr>
          <p:cNvPr id="37" name="Text 35"/>
          <p:cNvSpPr/>
          <p:nvPr/>
        </p:nvSpPr>
        <p:spPr>
          <a:xfrm>
            <a:off x="5614416" y="192024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3/20</a:t>
            </a:r>
            <a:endParaRPr lang="en-US" sz="750" dirty="0"/>
          </a:p>
        </p:txBody>
      </p:sp>
      <p:sp>
        <p:nvSpPr>
          <p:cNvPr id="38" name="Shape 36"/>
          <p:cNvSpPr/>
          <p:nvPr/>
        </p:nvSpPr>
        <p:spPr>
          <a:xfrm>
            <a:off x="6309360" y="1920240"/>
            <a:ext cx="1261872" cy="256032"/>
          </a:xfrm>
          <a:prstGeom prst="rect">
            <a:avLst/>
          </a:prstGeom>
          <a:solidFill>
            <a:srgbClr val="FFFFFF"/>
          </a:solidFill>
          <a:ln w="2540">
            <a:solidFill>
              <a:srgbClr val="2E75B6"/>
            </a:solidFill>
            <a:prstDash val="solid"/>
          </a:ln>
        </p:spPr>
      </p:sp>
      <p:sp>
        <p:nvSpPr>
          <p:cNvPr id="39" name="Text 37"/>
          <p:cNvSpPr/>
          <p:nvPr/>
        </p:nvSpPr>
        <p:spPr>
          <a:xfrm>
            <a:off x="6345936" y="1920240"/>
            <a:ext cx="12070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工程監査</a:t>
            </a:r>
            <a:endParaRPr lang="en-US" sz="750" dirty="0"/>
          </a:p>
        </p:txBody>
      </p:sp>
      <p:sp>
        <p:nvSpPr>
          <p:cNvPr id="40" name="Shape 38"/>
          <p:cNvSpPr/>
          <p:nvPr/>
        </p:nvSpPr>
        <p:spPr>
          <a:xfrm>
            <a:off x="274320" y="2194560"/>
            <a:ext cx="4023360" cy="256032"/>
          </a:xfrm>
          <a:prstGeom prst="rect">
            <a:avLst/>
          </a:prstGeom>
          <a:solidFill>
            <a:srgbClr val="F0F6FF"/>
          </a:solidFill>
          <a:ln w="2540">
            <a:solidFill>
              <a:srgbClr val="2E75B6"/>
            </a:solidFill>
            <a:prstDash val="solid"/>
          </a:ln>
        </p:spPr>
      </p:sp>
      <p:sp>
        <p:nvSpPr>
          <p:cNvPr id="41" name="Text 39"/>
          <p:cNvSpPr/>
          <p:nvPr/>
        </p:nvSpPr>
        <p:spPr>
          <a:xfrm>
            <a:off x="310896" y="2194560"/>
            <a:ext cx="396849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設計FMEAに高温環境（60℃以上）試験項目を追加・再評価</a:t>
            </a:r>
            <a:endParaRPr lang="en-US" sz="750" dirty="0"/>
          </a:p>
        </p:txBody>
      </p:sp>
      <p:sp>
        <p:nvSpPr>
          <p:cNvPr id="42" name="Shape 40"/>
          <p:cNvSpPr/>
          <p:nvPr/>
        </p:nvSpPr>
        <p:spPr>
          <a:xfrm>
            <a:off x="4297680" y="2194560"/>
            <a:ext cx="1280160" cy="256032"/>
          </a:xfrm>
          <a:prstGeom prst="rect">
            <a:avLst/>
          </a:prstGeom>
          <a:solidFill>
            <a:srgbClr val="F0F6FF"/>
          </a:solidFill>
          <a:ln w="2540">
            <a:solidFill>
              <a:srgbClr val="2E75B6"/>
            </a:solidFill>
            <a:prstDash val="solid"/>
          </a:ln>
        </p:spPr>
      </p:sp>
      <p:sp>
        <p:nvSpPr>
          <p:cNvPr id="43" name="Text 41"/>
          <p:cNvSpPr/>
          <p:nvPr/>
        </p:nvSpPr>
        <p:spPr>
          <a:xfrm>
            <a:off x="4334256" y="2194560"/>
            <a:ext cx="122529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開発部</a:t>
            </a:r>
            <a:endParaRPr lang="en-US" sz="750" dirty="0"/>
          </a:p>
        </p:txBody>
      </p:sp>
      <p:sp>
        <p:nvSpPr>
          <p:cNvPr id="44" name="Shape 42"/>
          <p:cNvSpPr/>
          <p:nvPr/>
        </p:nvSpPr>
        <p:spPr>
          <a:xfrm>
            <a:off x="5577840" y="2194560"/>
            <a:ext cx="731520" cy="256032"/>
          </a:xfrm>
          <a:prstGeom prst="rect">
            <a:avLst/>
          </a:prstGeom>
          <a:solidFill>
            <a:srgbClr val="F0F6FF"/>
          </a:solidFill>
          <a:ln w="2540">
            <a:solidFill>
              <a:srgbClr val="2E75B6"/>
            </a:solidFill>
            <a:prstDash val="solid"/>
          </a:ln>
        </p:spPr>
      </p:sp>
      <p:sp>
        <p:nvSpPr>
          <p:cNvPr id="45" name="Text 43"/>
          <p:cNvSpPr/>
          <p:nvPr/>
        </p:nvSpPr>
        <p:spPr>
          <a:xfrm>
            <a:off x="5614416" y="219456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3/31</a:t>
            </a:r>
            <a:endParaRPr lang="en-US" sz="750" dirty="0"/>
          </a:p>
        </p:txBody>
      </p:sp>
      <p:sp>
        <p:nvSpPr>
          <p:cNvPr id="46" name="Shape 44"/>
          <p:cNvSpPr/>
          <p:nvPr/>
        </p:nvSpPr>
        <p:spPr>
          <a:xfrm>
            <a:off x="6309360" y="2194560"/>
            <a:ext cx="1261872" cy="256032"/>
          </a:xfrm>
          <a:prstGeom prst="rect">
            <a:avLst/>
          </a:prstGeom>
          <a:solidFill>
            <a:srgbClr val="F0F6FF"/>
          </a:solidFill>
          <a:ln w="2540">
            <a:solidFill>
              <a:srgbClr val="2E75B6"/>
            </a:solidFill>
            <a:prstDash val="solid"/>
          </a:ln>
        </p:spPr>
      </p:sp>
      <p:sp>
        <p:nvSpPr>
          <p:cNvPr id="47" name="Text 45"/>
          <p:cNvSpPr/>
          <p:nvPr/>
        </p:nvSpPr>
        <p:spPr>
          <a:xfrm>
            <a:off x="6345936" y="2194560"/>
            <a:ext cx="12070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FMEA確認</a:t>
            </a:r>
            <a:endParaRPr lang="en-US" sz="750" dirty="0"/>
          </a:p>
        </p:txBody>
      </p:sp>
      <p:sp>
        <p:nvSpPr>
          <p:cNvPr id="48" name="Shape 46"/>
          <p:cNvSpPr/>
          <p:nvPr/>
        </p:nvSpPr>
        <p:spPr>
          <a:xfrm>
            <a:off x="274320" y="2468880"/>
            <a:ext cx="4023360" cy="256032"/>
          </a:xfrm>
          <a:prstGeom prst="rect">
            <a:avLst/>
          </a:prstGeom>
          <a:solidFill>
            <a:srgbClr val="FFFFFF"/>
          </a:solidFill>
          <a:ln w="2540">
            <a:solidFill>
              <a:srgbClr val="2E75B6"/>
            </a:solidFill>
            <a:prstDash val="solid"/>
          </a:ln>
        </p:spPr>
      </p:sp>
      <p:sp>
        <p:nvSpPr>
          <p:cNvPr id="49" name="Text 47"/>
          <p:cNvSpPr/>
          <p:nvPr/>
        </p:nvSpPr>
        <p:spPr>
          <a:xfrm>
            <a:off x="310896" y="2468880"/>
            <a:ext cx="396849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R12代替部品仕様変更（±30ppm/℃以内）</a:t>
            </a:r>
            <a:endParaRPr lang="en-US" sz="750" dirty="0"/>
          </a:p>
        </p:txBody>
      </p:sp>
      <p:sp>
        <p:nvSpPr>
          <p:cNvPr id="50" name="Shape 48"/>
          <p:cNvSpPr/>
          <p:nvPr/>
        </p:nvSpPr>
        <p:spPr>
          <a:xfrm>
            <a:off x="4297680" y="2468880"/>
            <a:ext cx="1280160" cy="256032"/>
          </a:xfrm>
          <a:prstGeom prst="rect">
            <a:avLst/>
          </a:prstGeom>
          <a:solidFill>
            <a:srgbClr val="FFFFFF"/>
          </a:solidFill>
          <a:ln w="2540">
            <a:solidFill>
              <a:srgbClr val="2E75B6"/>
            </a:solidFill>
            <a:prstDash val="solid"/>
          </a:ln>
        </p:spPr>
      </p:sp>
      <p:sp>
        <p:nvSpPr>
          <p:cNvPr id="51" name="Text 49"/>
          <p:cNvSpPr/>
          <p:nvPr/>
        </p:nvSpPr>
        <p:spPr>
          <a:xfrm>
            <a:off x="4334256" y="2468880"/>
            <a:ext cx="122529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調達部</a:t>
            </a:r>
            <a:endParaRPr lang="en-US" sz="750" dirty="0"/>
          </a:p>
        </p:txBody>
      </p:sp>
      <p:sp>
        <p:nvSpPr>
          <p:cNvPr id="52" name="Shape 50"/>
          <p:cNvSpPr/>
          <p:nvPr/>
        </p:nvSpPr>
        <p:spPr>
          <a:xfrm>
            <a:off x="5577840" y="2468880"/>
            <a:ext cx="731520" cy="256032"/>
          </a:xfrm>
          <a:prstGeom prst="rect">
            <a:avLst/>
          </a:prstGeom>
          <a:solidFill>
            <a:srgbClr val="FFFFFF"/>
          </a:solidFill>
          <a:ln w="2540">
            <a:solidFill>
              <a:srgbClr val="2E75B6"/>
            </a:solidFill>
            <a:prstDash val="solid"/>
          </a:ln>
        </p:spPr>
      </p:sp>
      <p:sp>
        <p:nvSpPr>
          <p:cNvPr id="53" name="Text 51"/>
          <p:cNvSpPr/>
          <p:nvPr/>
        </p:nvSpPr>
        <p:spPr>
          <a:xfrm>
            <a:off x="5614416" y="2468880"/>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4/10</a:t>
            </a:r>
            <a:endParaRPr lang="en-US" sz="750" dirty="0"/>
          </a:p>
        </p:txBody>
      </p:sp>
      <p:sp>
        <p:nvSpPr>
          <p:cNvPr id="54" name="Shape 52"/>
          <p:cNvSpPr/>
          <p:nvPr/>
        </p:nvSpPr>
        <p:spPr>
          <a:xfrm>
            <a:off x="6309360" y="2468880"/>
            <a:ext cx="1261872" cy="256032"/>
          </a:xfrm>
          <a:prstGeom prst="rect">
            <a:avLst/>
          </a:prstGeom>
          <a:solidFill>
            <a:srgbClr val="FFFFFF"/>
          </a:solidFill>
          <a:ln w="2540">
            <a:solidFill>
              <a:srgbClr val="2E75B6"/>
            </a:solidFill>
            <a:prstDash val="solid"/>
          </a:ln>
        </p:spPr>
      </p:sp>
      <p:sp>
        <p:nvSpPr>
          <p:cNvPr id="55" name="Text 53"/>
          <p:cNvSpPr/>
          <p:nvPr/>
        </p:nvSpPr>
        <p:spPr>
          <a:xfrm>
            <a:off x="6345936" y="2468880"/>
            <a:ext cx="12070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承認記録</a:t>
            </a:r>
            <a:endParaRPr lang="en-US" sz="750" dirty="0"/>
          </a:p>
        </p:txBody>
      </p:sp>
      <p:sp>
        <p:nvSpPr>
          <p:cNvPr id="56" name="Shape 54"/>
          <p:cNvSpPr/>
          <p:nvPr/>
        </p:nvSpPr>
        <p:spPr>
          <a:xfrm>
            <a:off x="274320" y="2788920"/>
            <a:ext cx="7662672" cy="457200"/>
          </a:xfrm>
          <a:prstGeom prst="rect">
            <a:avLst/>
          </a:prstGeom>
          <a:solidFill>
            <a:srgbClr val="F0F6FF"/>
          </a:solidFill>
          <a:ln w="3810">
            <a:solidFill>
              <a:srgbClr val="2E75B6"/>
            </a:solidFill>
            <a:prstDash val="solid"/>
          </a:ln>
        </p:spPr>
      </p:sp>
      <p:sp>
        <p:nvSpPr>
          <p:cNvPr id="57" name="Text 55"/>
          <p:cNvSpPr/>
          <p:nvPr/>
        </p:nvSpPr>
        <p:spPr>
          <a:xfrm>
            <a:off x="329184" y="2816352"/>
            <a:ext cx="7571232" cy="182880"/>
          </a:xfrm>
          <a:prstGeom prst="rect">
            <a:avLst/>
          </a:prstGeom>
          <a:noFill/>
          <a:ln/>
        </p:spPr>
        <p:txBody>
          <a:bodyPr wrap="square" rtlCol="0" anchor="ctr"/>
          <a:lstStyle/>
          <a:p>
            <a:pPr indent="0" marL="0">
              <a:buNone/>
            </a:pPr>
            <a:r>
              <a:rPr lang="en-US" sz="750" b="1" dirty="0">
                <a:solidFill>
                  <a:srgbClr val="1A3A5C"/>
                </a:solidFill>
                <a:latin typeface="Calibri" pitchFamily="34" charset="0"/>
                <a:ea typeface="Calibri" pitchFamily="34" charset="-122"/>
                <a:cs typeface="Calibri" pitchFamily="34" charset="-120"/>
              </a:rPr>
              <a:t>有効性確認結果</a:t>
            </a:r>
            <a:endParaRPr lang="en-US" sz="750" dirty="0"/>
          </a:p>
        </p:txBody>
      </p:sp>
      <p:sp>
        <p:nvSpPr>
          <p:cNvPr id="58" name="Text 56"/>
          <p:cNvSpPr/>
          <p:nvPr/>
        </p:nvSpPr>
        <p:spPr>
          <a:xfrm>
            <a:off x="347472" y="2990088"/>
            <a:ext cx="7534656" cy="219456"/>
          </a:xfrm>
          <a:prstGeom prst="rect">
            <a:avLst/>
          </a:prstGeom>
          <a:noFill/>
          <a:ln/>
        </p:spPr>
        <p:txBody>
          <a:bodyPr wrap="square" rtlCol="0" anchor="t"/>
          <a:lstStyle/>
          <a:p>
            <a:pPr indent="0" marL="0">
              <a:buNone/>
            </a:pPr>
            <a:r>
              <a:rPr lang="en-US" sz="850" dirty="0">
                <a:solidFill>
                  <a:srgbClr val="1A1A1A"/>
                </a:solidFill>
                <a:latin typeface="Calibri" pitchFamily="34" charset="0"/>
                <a:ea typeface="Calibri" pitchFamily="34" charset="-122"/>
                <a:cs typeface="Calibri" pitchFamily="34" charset="-120"/>
              </a:rPr>
              <a:t>多点校正導入後のサンプル50個を高温環境（85℃・4時間）で検証。全サンプルのドリフトが±0.15℃以内に収まることを確認（3月22日）。</a:t>
            </a:r>
            <a:endParaRPr lang="en-US" sz="850" dirty="0"/>
          </a:p>
        </p:txBody>
      </p:sp>
      <p:sp>
        <p:nvSpPr>
          <p:cNvPr id="59" name="Shape 57"/>
          <p:cNvSpPr/>
          <p:nvPr/>
        </p:nvSpPr>
        <p:spPr>
          <a:xfrm>
            <a:off x="274320" y="3310128"/>
            <a:ext cx="7680960" cy="329184"/>
          </a:xfrm>
          <a:prstGeom prst="rect">
            <a:avLst/>
          </a:prstGeom>
          <a:solidFill>
            <a:srgbClr val="2E75B6"/>
          </a:solidFill>
          <a:ln w="12700">
            <a:solidFill>
              <a:srgbClr val="2E75B6"/>
            </a:solidFill>
            <a:prstDash val="solid"/>
          </a:ln>
        </p:spPr>
      </p:sp>
      <p:sp>
        <p:nvSpPr>
          <p:cNvPr id="60" name="Shape 58"/>
          <p:cNvSpPr/>
          <p:nvPr/>
        </p:nvSpPr>
        <p:spPr>
          <a:xfrm>
            <a:off x="329184" y="3355848"/>
            <a:ext cx="512064" cy="237744"/>
          </a:xfrm>
          <a:prstGeom prst="roundRect">
            <a:avLst>
              <a:gd name="adj" fmla="val 30769"/>
            </a:avLst>
          </a:prstGeom>
          <a:solidFill>
            <a:srgbClr val="FFFFFF"/>
          </a:solidFill>
          <a:ln w="12700">
            <a:solidFill>
              <a:srgbClr val="FFFFFF"/>
            </a:solidFill>
            <a:prstDash val="solid"/>
          </a:ln>
        </p:spPr>
      </p:sp>
      <p:sp>
        <p:nvSpPr>
          <p:cNvPr id="61" name="Text 59"/>
          <p:cNvSpPr/>
          <p:nvPr/>
        </p:nvSpPr>
        <p:spPr>
          <a:xfrm>
            <a:off x="329184" y="3355848"/>
            <a:ext cx="512064" cy="237744"/>
          </a:xfrm>
          <a:prstGeom prst="rect">
            <a:avLst/>
          </a:prstGeom>
          <a:noFill/>
          <a:ln/>
        </p:spPr>
        <p:txBody>
          <a:bodyPr wrap="square" rtlCol="0" anchor="ctr"/>
          <a:lstStyle/>
          <a:p>
            <a:pPr algn="ctr" indent="0" marL="0">
              <a:buNone/>
            </a:pPr>
            <a:r>
              <a:rPr lang="en-US" sz="900" b="1" dirty="0">
                <a:solidFill>
                  <a:srgbClr val="2E75B6"/>
                </a:solidFill>
                <a:latin typeface="Calibri" pitchFamily="34" charset="0"/>
                <a:ea typeface="Calibri" pitchFamily="34" charset="-122"/>
                <a:cs typeface="Calibri" pitchFamily="34" charset="-120"/>
              </a:rPr>
              <a:t>D6</a:t>
            </a:r>
            <a:endParaRPr lang="en-US" sz="900" dirty="0"/>
          </a:p>
        </p:txBody>
      </p:sp>
      <p:sp>
        <p:nvSpPr>
          <p:cNvPr id="62" name="Text 60"/>
          <p:cNvSpPr/>
          <p:nvPr/>
        </p:nvSpPr>
        <p:spPr>
          <a:xfrm>
            <a:off x="896112" y="3364992"/>
            <a:ext cx="7004304"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恒久是正処置の実施（Implementation）</a:t>
            </a:r>
            <a:endParaRPr lang="en-US" sz="1100" dirty="0"/>
          </a:p>
        </p:txBody>
      </p:sp>
      <p:sp>
        <p:nvSpPr>
          <p:cNvPr id="63" name="Shape 61"/>
          <p:cNvSpPr/>
          <p:nvPr/>
        </p:nvSpPr>
        <p:spPr>
          <a:xfrm>
            <a:off x="274320" y="3675888"/>
            <a:ext cx="3291840" cy="274320"/>
          </a:xfrm>
          <a:prstGeom prst="rect">
            <a:avLst/>
          </a:prstGeom>
          <a:solidFill>
            <a:srgbClr val="2E75B6"/>
          </a:solidFill>
          <a:ln w="6350">
            <a:solidFill>
              <a:srgbClr val="FFFFFF"/>
            </a:solidFill>
            <a:prstDash val="solid"/>
          </a:ln>
        </p:spPr>
      </p:sp>
      <p:sp>
        <p:nvSpPr>
          <p:cNvPr id="64" name="Text 62"/>
          <p:cNvSpPr/>
          <p:nvPr/>
        </p:nvSpPr>
        <p:spPr>
          <a:xfrm>
            <a:off x="310896" y="3675888"/>
            <a:ext cx="323697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実施内容</a:t>
            </a:r>
            <a:endParaRPr lang="en-US" sz="800" dirty="0"/>
          </a:p>
        </p:txBody>
      </p:sp>
      <p:sp>
        <p:nvSpPr>
          <p:cNvPr id="65" name="Shape 63"/>
          <p:cNvSpPr/>
          <p:nvPr/>
        </p:nvSpPr>
        <p:spPr>
          <a:xfrm>
            <a:off x="3566160" y="3675888"/>
            <a:ext cx="1097280" cy="274320"/>
          </a:xfrm>
          <a:prstGeom prst="rect">
            <a:avLst/>
          </a:prstGeom>
          <a:solidFill>
            <a:srgbClr val="2E75B6"/>
          </a:solidFill>
          <a:ln w="6350">
            <a:solidFill>
              <a:srgbClr val="FFFFFF"/>
            </a:solidFill>
            <a:prstDash val="solid"/>
          </a:ln>
        </p:spPr>
      </p:sp>
      <p:sp>
        <p:nvSpPr>
          <p:cNvPr id="66" name="Text 64"/>
          <p:cNvSpPr/>
          <p:nvPr/>
        </p:nvSpPr>
        <p:spPr>
          <a:xfrm>
            <a:off x="3602736" y="3675888"/>
            <a:ext cx="104241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担当</a:t>
            </a:r>
            <a:endParaRPr lang="en-US" sz="800" dirty="0"/>
          </a:p>
        </p:txBody>
      </p:sp>
      <p:sp>
        <p:nvSpPr>
          <p:cNvPr id="67" name="Shape 65"/>
          <p:cNvSpPr/>
          <p:nvPr/>
        </p:nvSpPr>
        <p:spPr>
          <a:xfrm>
            <a:off x="4663440" y="3675888"/>
            <a:ext cx="914400" cy="274320"/>
          </a:xfrm>
          <a:prstGeom prst="rect">
            <a:avLst/>
          </a:prstGeom>
          <a:solidFill>
            <a:srgbClr val="2E75B6"/>
          </a:solidFill>
          <a:ln w="6350">
            <a:solidFill>
              <a:srgbClr val="FFFFFF"/>
            </a:solidFill>
            <a:prstDash val="solid"/>
          </a:ln>
        </p:spPr>
      </p:sp>
      <p:sp>
        <p:nvSpPr>
          <p:cNvPr id="68" name="Text 66"/>
          <p:cNvSpPr/>
          <p:nvPr/>
        </p:nvSpPr>
        <p:spPr>
          <a:xfrm>
            <a:off x="4700016" y="3675888"/>
            <a:ext cx="85953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完了日</a:t>
            </a:r>
            <a:endParaRPr lang="en-US" sz="800" dirty="0"/>
          </a:p>
        </p:txBody>
      </p:sp>
      <p:sp>
        <p:nvSpPr>
          <p:cNvPr id="69" name="Shape 67"/>
          <p:cNvSpPr/>
          <p:nvPr/>
        </p:nvSpPr>
        <p:spPr>
          <a:xfrm>
            <a:off x="5577840" y="3675888"/>
            <a:ext cx="731520" cy="274320"/>
          </a:xfrm>
          <a:prstGeom prst="rect">
            <a:avLst/>
          </a:prstGeom>
          <a:solidFill>
            <a:srgbClr val="2E75B6"/>
          </a:solidFill>
          <a:ln w="6350">
            <a:solidFill>
              <a:srgbClr val="FFFFFF"/>
            </a:solidFill>
            <a:prstDash val="solid"/>
          </a:ln>
        </p:spPr>
      </p:sp>
      <p:sp>
        <p:nvSpPr>
          <p:cNvPr id="70" name="Text 68"/>
          <p:cNvSpPr/>
          <p:nvPr/>
        </p:nvSpPr>
        <p:spPr>
          <a:xfrm>
            <a:off x="5614416" y="3675888"/>
            <a:ext cx="67665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確認</a:t>
            </a:r>
            <a:endParaRPr lang="en-US" sz="800" dirty="0"/>
          </a:p>
        </p:txBody>
      </p:sp>
      <p:sp>
        <p:nvSpPr>
          <p:cNvPr id="71" name="Shape 69"/>
          <p:cNvSpPr/>
          <p:nvPr/>
        </p:nvSpPr>
        <p:spPr>
          <a:xfrm>
            <a:off x="6309360" y="3675888"/>
            <a:ext cx="1627632" cy="274320"/>
          </a:xfrm>
          <a:prstGeom prst="rect">
            <a:avLst/>
          </a:prstGeom>
          <a:solidFill>
            <a:srgbClr val="2E75B6"/>
          </a:solidFill>
          <a:ln w="6350">
            <a:solidFill>
              <a:srgbClr val="FFFFFF"/>
            </a:solidFill>
            <a:prstDash val="solid"/>
          </a:ln>
        </p:spPr>
      </p:sp>
      <p:sp>
        <p:nvSpPr>
          <p:cNvPr id="72" name="Text 70"/>
          <p:cNvSpPr/>
          <p:nvPr/>
        </p:nvSpPr>
        <p:spPr>
          <a:xfrm>
            <a:off x="6345936" y="3675888"/>
            <a:ext cx="1572768"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結果</a:t>
            </a:r>
            <a:endParaRPr lang="en-US" sz="800" dirty="0"/>
          </a:p>
        </p:txBody>
      </p:sp>
      <p:sp>
        <p:nvSpPr>
          <p:cNvPr id="73" name="Shape 71"/>
          <p:cNvSpPr/>
          <p:nvPr/>
        </p:nvSpPr>
        <p:spPr>
          <a:xfrm>
            <a:off x="274320" y="3950208"/>
            <a:ext cx="3291840" cy="256032"/>
          </a:xfrm>
          <a:prstGeom prst="rect">
            <a:avLst/>
          </a:prstGeom>
          <a:solidFill>
            <a:srgbClr val="F0F6FF"/>
          </a:solidFill>
          <a:ln w="2540">
            <a:solidFill>
              <a:srgbClr val="2E75B6"/>
            </a:solidFill>
            <a:prstDash val="solid"/>
          </a:ln>
        </p:spPr>
      </p:sp>
      <p:sp>
        <p:nvSpPr>
          <p:cNvPr id="74" name="Text 72"/>
          <p:cNvSpPr/>
          <p:nvPr/>
        </p:nvSpPr>
        <p:spPr>
          <a:xfrm>
            <a:off x="310896" y="3950208"/>
            <a:ext cx="323697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R12受入検査治具を製作・設置</a:t>
            </a:r>
            <a:endParaRPr lang="en-US" sz="750" dirty="0"/>
          </a:p>
        </p:txBody>
      </p:sp>
      <p:sp>
        <p:nvSpPr>
          <p:cNvPr id="75" name="Shape 73"/>
          <p:cNvSpPr/>
          <p:nvPr/>
        </p:nvSpPr>
        <p:spPr>
          <a:xfrm>
            <a:off x="3566160" y="3950208"/>
            <a:ext cx="1097280" cy="256032"/>
          </a:xfrm>
          <a:prstGeom prst="rect">
            <a:avLst/>
          </a:prstGeom>
          <a:solidFill>
            <a:srgbClr val="F0F6FF"/>
          </a:solidFill>
          <a:ln w="2540">
            <a:solidFill>
              <a:srgbClr val="2E75B6"/>
            </a:solidFill>
            <a:prstDash val="solid"/>
          </a:ln>
        </p:spPr>
      </p:sp>
      <p:sp>
        <p:nvSpPr>
          <p:cNvPr id="76" name="Text 74"/>
          <p:cNvSpPr/>
          <p:nvPr/>
        </p:nvSpPr>
        <p:spPr>
          <a:xfrm>
            <a:off x="3602736" y="3950208"/>
            <a:ext cx="104241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製造部</a:t>
            </a:r>
            <a:endParaRPr lang="en-US" sz="750" dirty="0"/>
          </a:p>
        </p:txBody>
      </p:sp>
      <p:sp>
        <p:nvSpPr>
          <p:cNvPr id="77" name="Shape 75"/>
          <p:cNvSpPr/>
          <p:nvPr/>
        </p:nvSpPr>
        <p:spPr>
          <a:xfrm>
            <a:off x="4663440" y="3950208"/>
            <a:ext cx="914400" cy="256032"/>
          </a:xfrm>
          <a:prstGeom prst="rect">
            <a:avLst/>
          </a:prstGeom>
          <a:solidFill>
            <a:srgbClr val="F0F6FF"/>
          </a:solidFill>
          <a:ln w="2540">
            <a:solidFill>
              <a:srgbClr val="2E75B6"/>
            </a:solidFill>
            <a:prstDash val="solid"/>
          </a:ln>
        </p:spPr>
      </p:sp>
      <p:sp>
        <p:nvSpPr>
          <p:cNvPr id="78" name="Text 76"/>
          <p:cNvSpPr/>
          <p:nvPr/>
        </p:nvSpPr>
        <p:spPr>
          <a:xfrm>
            <a:off x="4700016" y="3950208"/>
            <a:ext cx="85953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3/18</a:t>
            </a:r>
            <a:endParaRPr lang="en-US" sz="750" dirty="0"/>
          </a:p>
        </p:txBody>
      </p:sp>
      <p:sp>
        <p:nvSpPr>
          <p:cNvPr id="79" name="Shape 77"/>
          <p:cNvSpPr/>
          <p:nvPr/>
        </p:nvSpPr>
        <p:spPr>
          <a:xfrm>
            <a:off x="5577840" y="3950208"/>
            <a:ext cx="731520" cy="256032"/>
          </a:xfrm>
          <a:prstGeom prst="rect">
            <a:avLst/>
          </a:prstGeom>
          <a:solidFill>
            <a:srgbClr val="F0F6FF"/>
          </a:solidFill>
          <a:ln w="2540">
            <a:solidFill>
              <a:srgbClr val="2E75B6"/>
            </a:solidFill>
            <a:prstDash val="solid"/>
          </a:ln>
        </p:spPr>
      </p:sp>
      <p:sp>
        <p:nvSpPr>
          <p:cNvPr id="80" name="Text 78"/>
          <p:cNvSpPr/>
          <p:nvPr/>
        </p:nvSpPr>
        <p:spPr>
          <a:xfrm>
            <a:off x="5614416" y="3950208"/>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品証</a:t>
            </a:r>
            <a:endParaRPr lang="en-US" sz="750" dirty="0"/>
          </a:p>
        </p:txBody>
      </p:sp>
      <p:sp>
        <p:nvSpPr>
          <p:cNvPr id="81" name="Shape 79"/>
          <p:cNvSpPr/>
          <p:nvPr/>
        </p:nvSpPr>
        <p:spPr>
          <a:xfrm>
            <a:off x="6309360" y="3950208"/>
            <a:ext cx="1627632" cy="256032"/>
          </a:xfrm>
          <a:prstGeom prst="rect">
            <a:avLst/>
          </a:prstGeom>
          <a:solidFill>
            <a:srgbClr val="F0F6FF"/>
          </a:solidFill>
          <a:ln w="2540">
            <a:solidFill>
              <a:srgbClr val="2E75B6"/>
            </a:solidFill>
            <a:prstDash val="solid"/>
          </a:ln>
        </p:spPr>
      </p:sp>
      <p:sp>
        <p:nvSpPr>
          <p:cNvPr id="82" name="Text 80"/>
          <p:cNvSpPr/>
          <p:nvPr/>
        </p:nvSpPr>
        <p:spPr>
          <a:xfrm>
            <a:off x="6345936" y="3950208"/>
            <a:ext cx="1572768"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精度±5ppm確認</a:t>
            </a:r>
            <a:endParaRPr lang="en-US" sz="750" dirty="0"/>
          </a:p>
        </p:txBody>
      </p:sp>
      <p:sp>
        <p:nvSpPr>
          <p:cNvPr id="83" name="Shape 81"/>
          <p:cNvSpPr/>
          <p:nvPr/>
        </p:nvSpPr>
        <p:spPr>
          <a:xfrm>
            <a:off x="274320" y="4224528"/>
            <a:ext cx="3291840" cy="256032"/>
          </a:xfrm>
          <a:prstGeom prst="rect">
            <a:avLst/>
          </a:prstGeom>
          <a:solidFill>
            <a:srgbClr val="FFFFFF"/>
          </a:solidFill>
          <a:ln w="2540">
            <a:solidFill>
              <a:srgbClr val="2E75B6"/>
            </a:solidFill>
            <a:prstDash val="solid"/>
          </a:ln>
        </p:spPr>
      </p:sp>
      <p:sp>
        <p:nvSpPr>
          <p:cNvPr id="84" name="Text 82"/>
          <p:cNvSpPr/>
          <p:nvPr/>
        </p:nvSpPr>
        <p:spPr>
          <a:xfrm>
            <a:off x="310896" y="4224528"/>
            <a:ext cx="323697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多点温度校正ライン増設（恒温槽2台）</a:t>
            </a:r>
            <a:endParaRPr lang="en-US" sz="750" dirty="0"/>
          </a:p>
        </p:txBody>
      </p:sp>
      <p:sp>
        <p:nvSpPr>
          <p:cNvPr id="85" name="Shape 83"/>
          <p:cNvSpPr/>
          <p:nvPr/>
        </p:nvSpPr>
        <p:spPr>
          <a:xfrm>
            <a:off x="3566160" y="4224528"/>
            <a:ext cx="1097280" cy="256032"/>
          </a:xfrm>
          <a:prstGeom prst="rect">
            <a:avLst/>
          </a:prstGeom>
          <a:solidFill>
            <a:srgbClr val="FFFFFF"/>
          </a:solidFill>
          <a:ln w="2540">
            <a:solidFill>
              <a:srgbClr val="2E75B6"/>
            </a:solidFill>
            <a:prstDash val="solid"/>
          </a:ln>
        </p:spPr>
      </p:sp>
      <p:sp>
        <p:nvSpPr>
          <p:cNvPr id="86" name="Text 84"/>
          <p:cNvSpPr/>
          <p:nvPr/>
        </p:nvSpPr>
        <p:spPr>
          <a:xfrm>
            <a:off x="3602736" y="4224528"/>
            <a:ext cx="104241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製造部</a:t>
            </a:r>
            <a:endParaRPr lang="en-US" sz="750" dirty="0"/>
          </a:p>
        </p:txBody>
      </p:sp>
      <p:sp>
        <p:nvSpPr>
          <p:cNvPr id="87" name="Shape 85"/>
          <p:cNvSpPr/>
          <p:nvPr/>
        </p:nvSpPr>
        <p:spPr>
          <a:xfrm>
            <a:off x="4663440" y="4224528"/>
            <a:ext cx="914400" cy="256032"/>
          </a:xfrm>
          <a:prstGeom prst="rect">
            <a:avLst/>
          </a:prstGeom>
          <a:solidFill>
            <a:srgbClr val="FFFFFF"/>
          </a:solidFill>
          <a:ln w="2540">
            <a:solidFill>
              <a:srgbClr val="2E75B6"/>
            </a:solidFill>
            <a:prstDash val="solid"/>
          </a:ln>
        </p:spPr>
      </p:sp>
      <p:sp>
        <p:nvSpPr>
          <p:cNvPr id="88" name="Text 86"/>
          <p:cNvSpPr/>
          <p:nvPr/>
        </p:nvSpPr>
        <p:spPr>
          <a:xfrm>
            <a:off x="4700016" y="4224528"/>
            <a:ext cx="85953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3/25</a:t>
            </a:r>
            <a:endParaRPr lang="en-US" sz="750" dirty="0"/>
          </a:p>
        </p:txBody>
      </p:sp>
      <p:sp>
        <p:nvSpPr>
          <p:cNvPr id="89" name="Shape 87"/>
          <p:cNvSpPr/>
          <p:nvPr/>
        </p:nvSpPr>
        <p:spPr>
          <a:xfrm>
            <a:off x="5577840" y="4224528"/>
            <a:ext cx="731520" cy="256032"/>
          </a:xfrm>
          <a:prstGeom prst="rect">
            <a:avLst/>
          </a:prstGeom>
          <a:solidFill>
            <a:srgbClr val="FFFFFF"/>
          </a:solidFill>
          <a:ln w="2540">
            <a:solidFill>
              <a:srgbClr val="2E75B6"/>
            </a:solidFill>
            <a:prstDash val="solid"/>
          </a:ln>
        </p:spPr>
      </p:sp>
      <p:sp>
        <p:nvSpPr>
          <p:cNvPr id="90" name="Text 88"/>
          <p:cNvSpPr/>
          <p:nvPr/>
        </p:nvSpPr>
        <p:spPr>
          <a:xfrm>
            <a:off x="5614416" y="4224528"/>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設備</a:t>
            </a:r>
            <a:endParaRPr lang="en-US" sz="750" dirty="0"/>
          </a:p>
        </p:txBody>
      </p:sp>
      <p:sp>
        <p:nvSpPr>
          <p:cNvPr id="91" name="Shape 89"/>
          <p:cNvSpPr/>
          <p:nvPr/>
        </p:nvSpPr>
        <p:spPr>
          <a:xfrm>
            <a:off x="6309360" y="4224528"/>
            <a:ext cx="1627632" cy="256032"/>
          </a:xfrm>
          <a:prstGeom prst="rect">
            <a:avLst/>
          </a:prstGeom>
          <a:solidFill>
            <a:srgbClr val="FFFFFF"/>
          </a:solidFill>
          <a:ln w="2540">
            <a:solidFill>
              <a:srgbClr val="2E75B6"/>
            </a:solidFill>
            <a:prstDash val="solid"/>
          </a:ln>
        </p:spPr>
      </p:sp>
      <p:sp>
        <p:nvSpPr>
          <p:cNvPr id="92" name="Text 90"/>
          <p:cNvSpPr/>
          <p:nvPr/>
        </p:nvSpPr>
        <p:spPr>
          <a:xfrm>
            <a:off x="6345936" y="4224528"/>
            <a:ext cx="1572768"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能力確認OK</a:t>
            </a:r>
            <a:endParaRPr lang="en-US" sz="750" dirty="0"/>
          </a:p>
        </p:txBody>
      </p:sp>
      <p:sp>
        <p:nvSpPr>
          <p:cNvPr id="93" name="Shape 91"/>
          <p:cNvSpPr/>
          <p:nvPr/>
        </p:nvSpPr>
        <p:spPr>
          <a:xfrm>
            <a:off x="274320" y="4498848"/>
            <a:ext cx="3291840" cy="256032"/>
          </a:xfrm>
          <a:prstGeom prst="rect">
            <a:avLst/>
          </a:prstGeom>
          <a:solidFill>
            <a:srgbClr val="F0F6FF"/>
          </a:solidFill>
          <a:ln w="2540">
            <a:solidFill>
              <a:srgbClr val="2E75B6"/>
            </a:solidFill>
            <a:prstDash val="solid"/>
          </a:ln>
        </p:spPr>
      </p:sp>
      <p:sp>
        <p:nvSpPr>
          <p:cNvPr id="94" name="Text 92"/>
          <p:cNvSpPr/>
          <p:nvPr/>
        </p:nvSpPr>
        <p:spPr>
          <a:xfrm>
            <a:off x="310896" y="4498848"/>
            <a:ext cx="323697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検査基準書 QC-XS500-001 Rev.C 改訂</a:t>
            </a:r>
            <a:endParaRPr lang="en-US" sz="750" dirty="0"/>
          </a:p>
        </p:txBody>
      </p:sp>
      <p:sp>
        <p:nvSpPr>
          <p:cNvPr id="95" name="Shape 93"/>
          <p:cNvSpPr/>
          <p:nvPr/>
        </p:nvSpPr>
        <p:spPr>
          <a:xfrm>
            <a:off x="3566160" y="4498848"/>
            <a:ext cx="1097280" cy="256032"/>
          </a:xfrm>
          <a:prstGeom prst="rect">
            <a:avLst/>
          </a:prstGeom>
          <a:solidFill>
            <a:srgbClr val="F0F6FF"/>
          </a:solidFill>
          <a:ln w="2540">
            <a:solidFill>
              <a:srgbClr val="2E75B6"/>
            </a:solidFill>
            <a:prstDash val="solid"/>
          </a:ln>
        </p:spPr>
      </p:sp>
      <p:sp>
        <p:nvSpPr>
          <p:cNvPr id="96" name="Text 94"/>
          <p:cNvSpPr/>
          <p:nvPr/>
        </p:nvSpPr>
        <p:spPr>
          <a:xfrm>
            <a:off x="3602736" y="4498848"/>
            <a:ext cx="104241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品証部</a:t>
            </a:r>
            <a:endParaRPr lang="en-US" sz="750" dirty="0"/>
          </a:p>
        </p:txBody>
      </p:sp>
      <p:sp>
        <p:nvSpPr>
          <p:cNvPr id="97" name="Shape 95"/>
          <p:cNvSpPr/>
          <p:nvPr/>
        </p:nvSpPr>
        <p:spPr>
          <a:xfrm>
            <a:off x="4663440" y="4498848"/>
            <a:ext cx="914400" cy="256032"/>
          </a:xfrm>
          <a:prstGeom prst="rect">
            <a:avLst/>
          </a:prstGeom>
          <a:solidFill>
            <a:srgbClr val="F0F6FF"/>
          </a:solidFill>
          <a:ln w="2540">
            <a:solidFill>
              <a:srgbClr val="2E75B6"/>
            </a:solidFill>
            <a:prstDash val="solid"/>
          </a:ln>
        </p:spPr>
      </p:sp>
      <p:sp>
        <p:nvSpPr>
          <p:cNvPr id="98" name="Text 96"/>
          <p:cNvSpPr/>
          <p:nvPr/>
        </p:nvSpPr>
        <p:spPr>
          <a:xfrm>
            <a:off x="4700016" y="4498848"/>
            <a:ext cx="85953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3/26</a:t>
            </a:r>
            <a:endParaRPr lang="en-US" sz="750" dirty="0"/>
          </a:p>
        </p:txBody>
      </p:sp>
      <p:sp>
        <p:nvSpPr>
          <p:cNvPr id="99" name="Shape 97"/>
          <p:cNvSpPr/>
          <p:nvPr/>
        </p:nvSpPr>
        <p:spPr>
          <a:xfrm>
            <a:off x="5577840" y="4498848"/>
            <a:ext cx="731520" cy="256032"/>
          </a:xfrm>
          <a:prstGeom prst="rect">
            <a:avLst/>
          </a:prstGeom>
          <a:solidFill>
            <a:srgbClr val="F0F6FF"/>
          </a:solidFill>
          <a:ln w="2540">
            <a:solidFill>
              <a:srgbClr val="2E75B6"/>
            </a:solidFill>
            <a:prstDash val="solid"/>
          </a:ln>
        </p:spPr>
      </p:sp>
      <p:sp>
        <p:nvSpPr>
          <p:cNvPr id="100" name="Text 98"/>
          <p:cNvSpPr/>
          <p:nvPr/>
        </p:nvSpPr>
        <p:spPr>
          <a:xfrm>
            <a:off x="5614416" y="4498848"/>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課長</a:t>
            </a:r>
            <a:endParaRPr lang="en-US" sz="750" dirty="0"/>
          </a:p>
        </p:txBody>
      </p:sp>
      <p:sp>
        <p:nvSpPr>
          <p:cNvPr id="101" name="Shape 99"/>
          <p:cNvSpPr/>
          <p:nvPr/>
        </p:nvSpPr>
        <p:spPr>
          <a:xfrm>
            <a:off x="6309360" y="4498848"/>
            <a:ext cx="1627632" cy="256032"/>
          </a:xfrm>
          <a:prstGeom prst="rect">
            <a:avLst/>
          </a:prstGeom>
          <a:solidFill>
            <a:srgbClr val="F0F6FF"/>
          </a:solidFill>
          <a:ln w="2540">
            <a:solidFill>
              <a:srgbClr val="2E75B6"/>
            </a:solidFill>
            <a:prstDash val="solid"/>
          </a:ln>
        </p:spPr>
      </p:sp>
      <p:sp>
        <p:nvSpPr>
          <p:cNvPr id="102" name="Text 100"/>
          <p:cNvSpPr/>
          <p:nvPr/>
        </p:nvSpPr>
        <p:spPr>
          <a:xfrm>
            <a:off x="6345936" y="4498848"/>
            <a:ext cx="1572768"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発行完了</a:t>
            </a:r>
            <a:endParaRPr lang="en-US" sz="750" dirty="0"/>
          </a:p>
        </p:txBody>
      </p:sp>
      <p:sp>
        <p:nvSpPr>
          <p:cNvPr id="103" name="Shape 101"/>
          <p:cNvSpPr/>
          <p:nvPr/>
        </p:nvSpPr>
        <p:spPr>
          <a:xfrm>
            <a:off x="274320" y="4773168"/>
            <a:ext cx="3291840" cy="256032"/>
          </a:xfrm>
          <a:prstGeom prst="rect">
            <a:avLst/>
          </a:prstGeom>
          <a:solidFill>
            <a:srgbClr val="FFFFFF"/>
          </a:solidFill>
          <a:ln w="2540">
            <a:solidFill>
              <a:srgbClr val="2E75B6"/>
            </a:solidFill>
            <a:prstDash val="solid"/>
          </a:ln>
        </p:spPr>
      </p:sp>
      <p:sp>
        <p:nvSpPr>
          <p:cNvPr id="104" name="Text 102"/>
          <p:cNvSpPr/>
          <p:nvPr/>
        </p:nvSpPr>
        <p:spPr>
          <a:xfrm>
            <a:off x="310896" y="4773168"/>
            <a:ext cx="323697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作業者への新検査手順教育（全員実施）</a:t>
            </a:r>
            <a:endParaRPr lang="en-US" sz="750" dirty="0"/>
          </a:p>
        </p:txBody>
      </p:sp>
      <p:sp>
        <p:nvSpPr>
          <p:cNvPr id="105" name="Shape 103"/>
          <p:cNvSpPr/>
          <p:nvPr/>
        </p:nvSpPr>
        <p:spPr>
          <a:xfrm>
            <a:off x="3566160" y="4773168"/>
            <a:ext cx="1097280" cy="256032"/>
          </a:xfrm>
          <a:prstGeom prst="rect">
            <a:avLst/>
          </a:prstGeom>
          <a:solidFill>
            <a:srgbClr val="FFFFFF"/>
          </a:solidFill>
          <a:ln w="2540">
            <a:solidFill>
              <a:srgbClr val="2E75B6"/>
            </a:solidFill>
            <a:prstDash val="solid"/>
          </a:ln>
        </p:spPr>
      </p:sp>
      <p:sp>
        <p:nvSpPr>
          <p:cNvPr id="106" name="Text 104"/>
          <p:cNvSpPr/>
          <p:nvPr/>
        </p:nvSpPr>
        <p:spPr>
          <a:xfrm>
            <a:off x="3602736" y="4773168"/>
            <a:ext cx="104241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製造部</a:t>
            </a:r>
            <a:endParaRPr lang="en-US" sz="750" dirty="0"/>
          </a:p>
        </p:txBody>
      </p:sp>
      <p:sp>
        <p:nvSpPr>
          <p:cNvPr id="107" name="Shape 105"/>
          <p:cNvSpPr/>
          <p:nvPr/>
        </p:nvSpPr>
        <p:spPr>
          <a:xfrm>
            <a:off x="4663440" y="4773168"/>
            <a:ext cx="914400" cy="256032"/>
          </a:xfrm>
          <a:prstGeom prst="rect">
            <a:avLst/>
          </a:prstGeom>
          <a:solidFill>
            <a:srgbClr val="FFFFFF"/>
          </a:solidFill>
          <a:ln w="2540">
            <a:solidFill>
              <a:srgbClr val="2E75B6"/>
            </a:solidFill>
            <a:prstDash val="solid"/>
          </a:ln>
        </p:spPr>
      </p:sp>
      <p:sp>
        <p:nvSpPr>
          <p:cNvPr id="108" name="Text 106"/>
          <p:cNvSpPr/>
          <p:nvPr/>
        </p:nvSpPr>
        <p:spPr>
          <a:xfrm>
            <a:off x="4700016" y="4773168"/>
            <a:ext cx="85953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3/27</a:t>
            </a:r>
            <a:endParaRPr lang="en-US" sz="750" dirty="0"/>
          </a:p>
        </p:txBody>
      </p:sp>
      <p:sp>
        <p:nvSpPr>
          <p:cNvPr id="109" name="Shape 107"/>
          <p:cNvSpPr/>
          <p:nvPr/>
        </p:nvSpPr>
        <p:spPr>
          <a:xfrm>
            <a:off x="5577840" y="4773168"/>
            <a:ext cx="731520" cy="256032"/>
          </a:xfrm>
          <a:prstGeom prst="rect">
            <a:avLst/>
          </a:prstGeom>
          <a:solidFill>
            <a:srgbClr val="FFFFFF"/>
          </a:solidFill>
          <a:ln w="2540">
            <a:solidFill>
              <a:srgbClr val="2E75B6"/>
            </a:solidFill>
            <a:prstDash val="solid"/>
          </a:ln>
        </p:spPr>
      </p:sp>
      <p:sp>
        <p:nvSpPr>
          <p:cNvPr id="110" name="Text 108"/>
          <p:cNvSpPr/>
          <p:nvPr/>
        </p:nvSpPr>
        <p:spPr>
          <a:xfrm>
            <a:off x="5614416" y="4773168"/>
            <a:ext cx="6766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品証</a:t>
            </a:r>
            <a:endParaRPr lang="en-US" sz="750" dirty="0"/>
          </a:p>
        </p:txBody>
      </p:sp>
      <p:sp>
        <p:nvSpPr>
          <p:cNvPr id="111" name="Shape 109"/>
          <p:cNvSpPr/>
          <p:nvPr/>
        </p:nvSpPr>
        <p:spPr>
          <a:xfrm>
            <a:off x="6309360" y="4773168"/>
            <a:ext cx="1627632" cy="256032"/>
          </a:xfrm>
          <a:prstGeom prst="rect">
            <a:avLst/>
          </a:prstGeom>
          <a:solidFill>
            <a:srgbClr val="FFFFFF"/>
          </a:solidFill>
          <a:ln w="2540">
            <a:solidFill>
              <a:srgbClr val="2E75B6"/>
            </a:solidFill>
            <a:prstDash val="solid"/>
          </a:ln>
        </p:spPr>
      </p:sp>
      <p:sp>
        <p:nvSpPr>
          <p:cNvPr id="112" name="Text 110"/>
          <p:cNvSpPr/>
          <p:nvPr/>
        </p:nvSpPr>
        <p:spPr>
          <a:xfrm>
            <a:off x="6345936" y="4773168"/>
            <a:ext cx="1572768"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受講記録完了</a:t>
            </a:r>
            <a:endParaRPr lang="en-US" sz="750" dirty="0"/>
          </a:p>
        </p:txBody>
      </p:sp>
      <p:sp>
        <p:nvSpPr>
          <p:cNvPr id="113" name="Shape 111"/>
          <p:cNvSpPr/>
          <p:nvPr/>
        </p:nvSpPr>
        <p:spPr>
          <a:xfrm>
            <a:off x="8229600" y="1005840"/>
            <a:ext cx="3657600" cy="5394960"/>
          </a:xfrm>
          <a:prstGeom prst="rect">
            <a:avLst/>
          </a:prstGeom>
          <a:solidFill>
            <a:srgbClr val="F0F6FF"/>
          </a:solidFill>
          <a:ln w="6350">
            <a:solidFill>
              <a:srgbClr val="D6E4F0"/>
            </a:solidFill>
            <a:prstDash val="solid"/>
          </a:ln>
        </p:spPr>
      </p:sp>
      <p:sp>
        <p:nvSpPr>
          <p:cNvPr id="114" name="Text 112"/>
          <p:cNvSpPr/>
          <p:nvPr/>
        </p:nvSpPr>
        <p:spPr>
          <a:xfrm>
            <a:off x="8321040" y="1051560"/>
            <a:ext cx="3474720" cy="256032"/>
          </a:xfrm>
          <a:prstGeom prst="rect">
            <a:avLst/>
          </a:prstGeom>
          <a:noFill/>
          <a:ln/>
        </p:spPr>
        <p:txBody>
          <a:bodyPr wrap="square" rtlCol="0" anchor="ctr"/>
          <a:lstStyle/>
          <a:p>
            <a:pPr algn="ctr" indent="0" marL="0">
              <a:buNone/>
            </a:pPr>
            <a:r>
              <a:rPr lang="en-US" sz="900" b="1" dirty="0">
                <a:solidFill>
                  <a:srgbClr val="1A3A5C"/>
                </a:solidFill>
                <a:latin typeface="Calibri" pitchFamily="34" charset="0"/>
                <a:ea typeface="Calibri" pitchFamily="34" charset="-122"/>
                <a:cs typeface="Calibri" pitchFamily="34" charset="-120"/>
              </a:rPr>
              <a:t>効果確認　不良率推移</a:t>
            </a:r>
            <a:endParaRPr lang="en-US" sz="900" dirty="0"/>
          </a:p>
        </p:txBody>
      </p:sp>
      <p:graphicFrame>
        <p:nvGraphicFramePr>
          <p:cNvPr id="115" name="Chart 0" descr=""/>
          <p:cNvGraphicFramePr/>
          <p:nvPr/>
        </p:nvGraphicFramePr>
        <p:xfrm>
          <a:off x="8321040" y="1353312"/>
          <a:ext cx="3474720" cy="49377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A3A5C"/>
          </a:solidFill>
          <a:ln w="12700">
            <a:solidFill>
              <a:srgbClr val="1A3A5C"/>
            </a:solidFill>
            <a:prstDash val="solid"/>
          </a:ln>
        </p:spPr>
      </p:sp>
      <p:sp>
        <p:nvSpPr>
          <p:cNvPr id="3" name="Shape 1"/>
          <p:cNvSpPr/>
          <p:nvPr/>
        </p:nvSpPr>
        <p:spPr>
          <a:xfrm>
            <a:off x="0" y="0"/>
            <a:ext cx="109728" cy="914400"/>
          </a:xfrm>
          <a:prstGeom prst="rect">
            <a:avLst/>
          </a:prstGeom>
          <a:solidFill>
            <a:srgbClr val="C62828"/>
          </a:solidFill>
          <a:ln w="12700">
            <a:solidFill>
              <a:srgbClr val="C62828"/>
            </a:solidFill>
            <a:prstDash val="solid"/>
          </a:ln>
        </p:spPr>
      </p:sp>
      <p:sp>
        <p:nvSpPr>
          <p:cNvPr id="4" name="Text 2"/>
          <p:cNvSpPr/>
          <p:nvPr/>
        </p:nvSpPr>
        <p:spPr>
          <a:xfrm>
            <a:off x="201168" y="36576"/>
            <a:ext cx="4572000" cy="365760"/>
          </a:xfrm>
          <a:prstGeom prst="rect">
            <a:avLst/>
          </a:prstGeom>
          <a:noFill/>
          <a:ln/>
        </p:spPr>
        <p:txBody>
          <a:bodyPr wrap="square" rtlCol="0" anchor="ctr"/>
          <a:lstStyle/>
          <a:p>
            <a:pPr indent="0" marL="0">
              <a:buNone/>
            </a:pPr>
            <a:r>
              <a:rPr lang="en-US" sz="1100" dirty="0">
                <a:solidFill>
                  <a:srgbClr val="D6E4F0"/>
                </a:solidFill>
                <a:latin typeface="Calibri" pitchFamily="34" charset="0"/>
                <a:ea typeface="Calibri" pitchFamily="34" charset="-122"/>
                <a:cs typeface="Calibri" pitchFamily="34" charset="-120"/>
              </a:rPr>
              <a:t>8D レポート</a:t>
            </a:r>
            <a:endParaRPr lang="en-US" sz="1100" dirty="0"/>
          </a:p>
        </p:txBody>
      </p:sp>
      <p:sp>
        <p:nvSpPr>
          <p:cNvPr id="5" name="Text 3"/>
          <p:cNvSpPr/>
          <p:nvPr/>
        </p:nvSpPr>
        <p:spPr>
          <a:xfrm>
            <a:off x="201168" y="384048"/>
            <a:ext cx="8686800" cy="47548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D7: 再発防止　／　D8: クロージャー</a:t>
            </a:r>
            <a:endParaRPr lang="en-US" sz="1800" dirty="0"/>
          </a:p>
        </p:txBody>
      </p:sp>
      <p:sp>
        <p:nvSpPr>
          <p:cNvPr id="6" name="Text 4"/>
          <p:cNvSpPr/>
          <p:nvPr/>
        </p:nvSpPr>
        <p:spPr>
          <a:xfrm>
            <a:off x="8961120" y="91440"/>
            <a:ext cx="3108960" cy="685800"/>
          </a:xfrm>
          <a:prstGeom prst="rect">
            <a:avLst/>
          </a:prstGeom>
          <a:noFill/>
          <a:ln/>
        </p:spPr>
        <p:txBody>
          <a:bodyPr wrap="square" rtlCol="0" anchor="ctr"/>
          <a:lstStyle/>
          <a:p>
            <a:pPr algn="r" indent="0" marL="0">
              <a:buNone/>
            </a:pPr>
            <a:r>
              <a:rPr lang="en-US" sz="800" dirty="0">
                <a:solidFill>
                  <a:srgbClr val="D6E4F0"/>
                </a:solidFill>
                <a:latin typeface="Calibri" pitchFamily="34" charset="0"/>
                <a:ea typeface="Calibri" pitchFamily="34" charset="-122"/>
                <a:cs typeface="Calibri" pitchFamily="34" charset="-120"/>
              </a:rPr>
              <a:t>文書番号: 8D-2025-001　Rev.B　</a:t>
            </a:r>
            <a:endParaRPr lang="en-US" sz="800" dirty="0"/>
          </a:p>
          <a:p>
            <a:pPr algn="r" indent="0" marL="0">
              <a:buNone/>
            </a:pPr>
            <a:r>
              <a:rPr lang="en-US" sz="800" dirty="0">
                <a:solidFill>
                  <a:srgbClr val="D6E4F0"/>
                </a:solidFill>
                <a:latin typeface="Calibri" pitchFamily="34" charset="0"/>
                <a:ea typeface="Calibri" pitchFamily="34" charset="-122"/>
                <a:cs typeface="Calibri" pitchFamily="34" charset="-120"/>
              </a:rPr>
              <a:t>発行日: 2025年4月5日　製造株式会社</a:t>
            </a:r>
            <a:endParaRPr lang="en-US" sz="800" dirty="0"/>
          </a:p>
        </p:txBody>
      </p:sp>
      <p:sp>
        <p:nvSpPr>
          <p:cNvPr id="7" name="Shape 5"/>
          <p:cNvSpPr/>
          <p:nvPr/>
        </p:nvSpPr>
        <p:spPr>
          <a:xfrm>
            <a:off x="9966960" y="621792"/>
            <a:ext cx="1645920" cy="256032"/>
          </a:xfrm>
          <a:prstGeom prst="roundRect">
            <a:avLst>
              <a:gd name="adj" fmla="val 17857"/>
            </a:avLst>
          </a:prstGeom>
          <a:solidFill>
            <a:srgbClr val="1B5E20"/>
          </a:solidFill>
          <a:ln w="12700">
            <a:solidFill>
              <a:srgbClr val="1B5E20"/>
            </a:solidFill>
            <a:prstDash val="solid"/>
          </a:ln>
        </p:spPr>
      </p:sp>
      <p:sp>
        <p:nvSpPr>
          <p:cNvPr id="8" name="Text 6"/>
          <p:cNvSpPr/>
          <p:nvPr/>
        </p:nvSpPr>
        <p:spPr>
          <a:xfrm>
            <a:off x="9966960" y="621792"/>
            <a:ext cx="164592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クローズ済</a:t>
            </a:r>
            <a:endParaRPr lang="en-US" sz="800" dirty="0"/>
          </a:p>
        </p:txBody>
      </p:sp>
      <p:sp>
        <p:nvSpPr>
          <p:cNvPr id="9" name="Shape 7"/>
          <p:cNvSpPr/>
          <p:nvPr/>
        </p:nvSpPr>
        <p:spPr>
          <a:xfrm>
            <a:off x="0" y="6565392"/>
            <a:ext cx="12188952" cy="292608"/>
          </a:xfrm>
          <a:prstGeom prst="rect">
            <a:avLst/>
          </a:prstGeom>
          <a:solidFill>
            <a:srgbClr val="1A3A5C"/>
          </a:solidFill>
          <a:ln w="12700">
            <a:solidFill>
              <a:srgbClr val="1A3A5C"/>
            </a:solidFill>
            <a:prstDash val="solid"/>
          </a:ln>
        </p:spPr>
      </p:sp>
      <p:sp>
        <p:nvSpPr>
          <p:cNvPr id="10" name="Text 8"/>
          <p:cNvSpPr/>
          <p:nvPr/>
        </p:nvSpPr>
        <p:spPr>
          <a:xfrm>
            <a:off x="182880" y="6583680"/>
            <a:ext cx="8229600" cy="256032"/>
          </a:xfrm>
          <a:prstGeom prst="rect">
            <a:avLst/>
          </a:prstGeom>
          <a:noFill/>
          <a:ln/>
        </p:spPr>
        <p:txBody>
          <a:bodyPr wrap="square" rtlCol="0" anchor="ctr"/>
          <a:lstStyle/>
          <a:p>
            <a:pPr indent="0" marL="0">
              <a:buNone/>
            </a:pPr>
            <a:r>
              <a:rPr lang="en-US" sz="700" dirty="0">
                <a:solidFill>
                  <a:srgbClr val="D6E4F0"/>
                </a:solidFill>
                <a:latin typeface="Calibri" pitchFamily="34" charset="0"/>
                <a:ea typeface="Calibri" pitchFamily="34" charset="-122"/>
                <a:cs typeface="Calibri" pitchFamily="34" charset="-120"/>
              </a:rPr>
              <a:t>© 製造株式会社　このドキュメントは社外秘です。</a:t>
            </a:r>
            <a:endParaRPr lang="en-US" sz="700" dirty="0"/>
          </a:p>
        </p:txBody>
      </p:sp>
      <p:sp>
        <p:nvSpPr>
          <p:cNvPr id="11" name="Text 9"/>
          <p:cNvSpPr/>
          <p:nvPr/>
        </p:nvSpPr>
        <p:spPr>
          <a:xfrm>
            <a:off x="11274552" y="6583680"/>
            <a:ext cx="731520" cy="256032"/>
          </a:xfrm>
          <a:prstGeom prst="rect">
            <a:avLst/>
          </a:prstGeom>
          <a:noFill/>
          <a:ln/>
        </p:spPr>
        <p:txBody>
          <a:bodyPr wrap="square" rtlCol="0" anchor="ctr"/>
          <a:lstStyle/>
          <a:p>
            <a:pPr algn="r" indent="0" marL="0">
              <a:buNone/>
            </a:pPr>
            <a:r>
              <a:rPr lang="en-US" sz="700" dirty="0">
                <a:solidFill>
                  <a:srgbClr val="D6E4F0"/>
                </a:solidFill>
                <a:latin typeface="Calibri" pitchFamily="34" charset="0"/>
                <a:ea typeface="Calibri" pitchFamily="34" charset="-122"/>
                <a:cs typeface="Calibri" pitchFamily="34" charset="-120"/>
              </a:rPr>
              <a:t>4 / 4</a:t>
            </a:r>
            <a:endParaRPr lang="en-US" sz="700" dirty="0"/>
          </a:p>
        </p:txBody>
      </p:sp>
      <p:sp>
        <p:nvSpPr>
          <p:cNvPr id="12" name="Shape 10"/>
          <p:cNvSpPr/>
          <p:nvPr/>
        </p:nvSpPr>
        <p:spPr>
          <a:xfrm>
            <a:off x="274320" y="1005840"/>
            <a:ext cx="11640312" cy="329184"/>
          </a:xfrm>
          <a:prstGeom prst="rect">
            <a:avLst/>
          </a:prstGeom>
          <a:solidFill>
            <a:srgbClr val="1A3A5C"/>
          </a:solidFill>
          <a:ln w="12700">
            <a:solidFill>
              <a:srgbClr val="1A3A5C"/>
            </a:solidFill>
            <a:prstDash val="solid"/>
          </a:ln>
        </p:spPr>
      </p:sp>
      <p:sp>
        <p:nvSpPr>
          <p:cNvPr id="13" name="Shape 11"/>
          <p:cNvSpPr/>
          <p:nvPr/>
        </p:nvSpPr>
        <p:spPr>
          <a:xfrm>
            <a:off x="329184" y="1051560"/>
            <a:ext cx="512064" cy="237744"/>
          </a:xfrm>
          <a:prstGeom prst="roundRect">
            <a:avLst>
              <a:gd name="adj" fmla="val 30769"/>
            </a:avLst>
          </a:prstGeom>
          <a:solidFill>
            <a:srgbClr val="FFFFFF"/>
          </a:solidFill>
          <a:ln w="12700">
            <a:solidFill>
              <a:srgbClr val="FFFFFF"/>
            </a:solidFill>
            <a:prstDash val="solid"/>
          </a:ln>
        </p:spPr>
      </p:sp>
      <p:sp>
        <p:nvSpPr>
          <p:cNvPr id="14" name="Text 12"/>
          <p:cNvSpPr/>
          <p:nvPr/>
        </p:nvSpPr>
        <p:spPr>
          <a:xfrm>
            <a:off x="329184" y="1051560"/>
            <a:ext cx="512064" cy="237744"/>
          </a:xfrm>
          <a:prstGeom prst="rect">
            <a:avLst/>
          </a:prstGeom>
          <a:noFill/>
          <a:ln/>
        </p:spPr>
        <p:txBody>
          <a:bodyPr wrap="square" rtlCol="0" anchor="ctr"/>
          <a:lstStyle/>
          <a:p>
            <a:pPr algn="ctr" indent="0" marL="0">
              <a:buNone/>
            </a:pPr>
            <a:r>
              <a:rPr lang="en-US" sz="900" b="1" dirty="0">
                <a:solidFill>
                  <a:srgbClr val="1A3A5C"/>
                </a:solidFill>
                <a:latin typeface="Calibri" pitchFamily="34" charset="0"/>
                <a:ea typeface="Calibri" pitchFamily="34" charset="-122"/>
                <a:cs typeface="Calibri" pitchFamily="34" charset="-120"/>
              </a:rPr>
              <a:t>D7</a:t>
            </a:r>
            <a:endParaRPr lang="en-US" sz="900" dirty="0"/>
          </a:p>
        </p:txBody>
      </p:sp>
      <p:sp>
        <p:nvSpPr>
          <p:cNvPr id="15" name="Text 13"/>
          <p:cNvSpPr/>
          <p:nvPr/>
        </p:nvSpPr>
        <p:spPr>
          <a:xfrm>
            <a:off x="896112" y="1060704"/>
            <a:ext cx="10963656"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再発防止処置（Prevention）</a:t>
            </a:r>
            <a:endParaRPr lang="en-US" sz="1100" dirty="0"/>
          </a:p>
        </p:txBody>
      </p:sp>
      <p:sp>
        <p:nvSpPr>
          <p:cNvPr id="16" name="Shape 14"/>
          <p:cNvSpPr/>
          <p:nvPr/>
        </p:nvSpPr>
        <p:spPr>
          <a:xfrm>
            <a:off x="274320" y="1371600"/>
            <a:ext cx="4114800" cy="274320"/>
          </a:xfrm>
          <a:prstGeom prst="rect">
            <a:avLst/>
          </a:prstGeom>
          <a:solidFill>
            <a:srgbClr val="2E75B6"/>
          </a:solidFill>
          <a:ln w="6350">
            <a:solidFill>
              <a:srgbClr val="FFFFFF"/>
            </a:solidFill>
            <a:prstDash val="solid"/>
          </a:ln>
        </p:spPr>
      </p:sp>
      <p:sp>
        <p:nvSpPr>
          <p:cNvPr id="17" name="Text 15"/>
          <p:cNvSpPr/>
          <p:nvPr/>
        </p:nvSpPr>
        <p:spPr>
          <a:xfrm>
            <a:off x="310896" y="1371600"/>
            <a:ext cx="405993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予防処置</a:t>
            </a:r>
            <a:endParaRPr lang="en-US" sz="800" dirty="0"/>
          </a:p>
        </p:txBody>
      </p:sp>
      <p:sp>
        <p:nvSpPr>
          <p:cNvPr id="18" name="Shape 16"/>
          <p:cNvSpPr/>
          <p:nvPr/>
        </p:nvSpPr>
        <p:spPr>
          <a:xfrm>
            <a:off x="4389120" y="1371600"/>
            <a:ext cx="3200400" cy="274320"/>
          </a:xfrm>
          <a:prstGeom prst="rect">
            <a:avLst/>
          </a:prstGeom>
          <a:solidFill>
            <a:srgbClr val="2E75B6"/>
          </a:solidFill>
          <a:ln w="6350">
            <a:solidFill>
              <a:srgbClr val="FFFFFF"/>
            </a:solidFill>
            <a:prstDash val="solid"/>
          </a:ln>
        </p:spPr>
      </p:sp>
      <p:sp>
        <p:nvSpPr>
          <p:cNvPr id="19" name="Text 17"/>
          <p:cNvSpPr/>
          <p:nvPr/>
        </p:nvSpPr>
        <p:spPr>
          <a:xfrm>
            <a:off x="4425696" y="1371600"/>
            <a:ext cx="314553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展開先・対象</a:t>
            </a:r>
            <a:endParaRPr lang="en-US" sz="800" dirty="0"/>
          </a:p>
        </p:txBody>
      </p:sp>
      <p:sp>
        <p:nvSpPr>
          <p:cNvPr id="20" name="Shape 18"/>
          <p:cNvSpPr/>
          <p:nvPr/>
        </p:nvSpPr>
        <p:spPr>
          <a:xfrm>
            <a:off x="7589520" y="1371600"/>
            <a:ext cx="1188720" cy="274320"/>
          </a:xfrm>
          <a:prstGeom prst="rect">
            <a:avLst/>
          </a:prstGeom>
          <a:solidFill>
            <a:srgbClr val="2E75B6"/>
          </a:solidFill>
          <a:ln w="6350">
            <a:solidFill>
              <a:srgbClr val="FFFFFF"/>
            </a:solidFill>
            <a:prstDash val="solid"/>
          </a:ln>
        </p:spPr>
      </p:sp>
      <p:sp>
        <p:nvSpPr>
          <p:cNvPr id="21" name="Text 19"/>
          <p:cNvSpPr/>
          <p:nvPr/>
        </p:nvSpPr>
        <p:spPr>
          <a:xfrm>
            <a:off x="7626096" y="1371600"/>
            <a:ext cx="113385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担当</a:t>
            </a:r>
            <a:endParaRPr lang="en-US" sz="800" dirty="0"/>
          </a:p>
        </p:txBody>
      </p:sp>
      <p:sp>
        <p:nvSpPr>
          <p:cNvPr id="22" name="Shape 20"/>
          <p:cNvSpPr/>
          <p:nvPr/>
        </p:nvSpPr>
        <p:spPr>
          <a:xfrm>
            <a:off x="8778240" y="1371600"/>
            <a:ext cx="2862072" cy="274320"/>
          </a:xfrm>
          <a:prstGeom prst="rect">
            <a:avLst/>
          </a:prstGeom>
          <a:solidFill>
            <a:srgbClr val="2E75B6"/>
          </a:solidFill>
          <a:ln w="6350">
            <a:solidFill>
              <a:srgbClr val="FFFFFF"/>
            </a:solidFill>
            <a:prstDash val="solid"/>
          </a:ln>
        </p:spPr>
      </p:sp>
      <p:sp>
        <p:nvSpPr>
          <p:cNvPr id="23" name="Text 21"/>
          <p:cNvSpPr/>
          <p:nvPr/>
        </p:nvSpPr>
        <p:spPr>
          <a:xfrm>
            <a:off x="8814816" y="1371600"/>
            <a:ext cx="2807208"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完了予定</a:t>
            </a:r>
            <a:endParaRPr lang="en-US" sz="800" dirty="0"/>
          </a:p>
        </p:txBody>
      </p:sp>
      <p:sp>
        <p:nvSpPr>
          <p:cNvPr id="24" name="Shape 22"/>
          <p:cNvSpPr/>
          <p:nvPr/>
        </p:nvSpPr>
        <p:spPr>
          <a:xfrm>
            <a:off x="274320" y="1645920"/>
            <a:ext cx="4114800" cy="256032"/>
          </a:xfrm>
          <a:prstGeom prst="rect">
            <a:avLst/>
          </a:prstGeom>
          <a:solidFill>
            <a:srgbClr val="F0F6FF"/>
          </a:solidFill>
          <a:ln w="2540">
            <a:solidFill>
              <a:srgbClr val="2E75B6"/>
            </a:solidFill>
            <a:prstDash val="solid"/>
          </a:ln>
        </p:spPr>
      </p:sp>
      <p:sp>
        <p:nvSpPr>
          <p:cNvPr id="25" name="Text 23"/>
          <p:cNvSpPr/>
          <p:nvPr/>
        </p:nvSpPr>
        <p:spPr>
          <a:xfrm>
            <a:off x="310896" y="1645920"/>
            <a:ext cx="4059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R12等 温度係数影響部品を重要部品リストに登録・受入管理強化</a:t>
            </a:r>
            <a:endParaRPr lang="en-US" sz="750" dirty="0"/>
          </a:p>
        </p:txBody>
      </p:sp>
      <p:sp>
        <p:nvSpPr>
          <p:cNvPr id="26" name="Shape 24"/>
          <p:cNvSpPr/>
          <p:nvPr/>
        </p:nvSpPr>
        <p:spPr>
          <a:xfrm>
            <a:off x="4389120" y="1645920"/>
            <a:ext cx="3200400" cy="256032"/>
          </a:xfrm>
          <a:prstGeom prst="rect">
            <a:avLst/>
          </a:prstGeom>
          <a:solidFill>
            <a:srgbClr val="F0F6FF"/>
          </a:solidFill>
          <a:ln w="2540">
            <a:solidFill>
              <a:srgbClr val="2E75B6"/>
            </a:solidFill>
            <a:prstDash val="solid"/>
          </a:ln>
        </p:spPr>
      </p:sp>
      <p:sp>
        <p:nvSpPr>
          <p:cNvPr id="27" name="Text 25"/>
          <p:cNvSpPr/>
          <p:nvPr/>
        </p:nvSpPr>
        <p:spPr>
          <a:xfrm>
            <a:off x="4425696" y="1645920"/>
            <a:ext cx="31455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全製品ライン（XS-300, 400, 500, 600）</a:t>
            </a:r>
            <a:endParaRPr lang="en-US" sz="750" dirty="0"/>
          </a:p>
        </p:txBody>
      </p:sp>
      <p:sp>
        <p:nvSpPr>
          <p:cNvPr id="28" name="Shape 26"/>
          <p:cNvSpPr/>
          <p:nvPr/>
        </p:nvSpPr>
        <p:spPr>
          <a:xfrm>
            <a:off x="7589520" y="1645920"/>
            <a:ext cx="1188720" cy="256032"/>
          </a:xfrm>
          <a:prstGeom prst="rect">
            <a:avLst/>
          </a:prstGeom>
          <a:solidFill>
            <a:srgbClr val="F0F6FF"/>
          </a:solidFill>
          <a:ln w="2540">
            <a:solidFill>
              <a:srgbClr val="2E75B6"/>
            </a:solidFill>
            <a:prstDash val="solid"/>
          </a:ln>
        </p:spPr>
      </p:sp>
      <p:sp>
        <p:nvSpPr>
          <p:cNvPr id="29" name="Text 27"/>
          <p:cNvSpPr/>
          <p:nvPr/>
        </p:nvSpPr>
        <p:spPr>
          <a:xfrm>
            <a:off x="7626096" y="1645920"/>
            <a:ext cx="11338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調達部</a:t>
            </a:r>
            <a:endParaRPr lang="en-US" sz="750" dirty="0"/>
          </a:p>
        </p:txBody>
      </p:sp>
      <p:sp>
        <p:nvSpPr>
          <p:cNvPr id="30" name="Shape 28"/>
          <p:cNvSpPr/>
          <p:nvPr/>
        </p:nvSpPr>
        <p:spPr>
          <a:xfrm>
            <a:off x="8778240" y="1645920"/>
            <a:ext cx="2862072" cy="256032"/>
          </a:xfrm>
          <a:prstGeom prst="rect">
            <a:avLst/>
          </a:prstGeom>
          <a:solidFill>
            <a:srgbClr val="F0F6FF"/>
          </a:solidFill>
          <a:ln w="2540">
            <a:solidFill>
              <a:srgbClr val="2E75B6"/>
            </a:solidFill>
            <a:prstDash val="solid"/>
          </a:ln>
        </p:spPr>
      </p:sp>
      <p:sp>
        <p:nvSpPr>
          <p:cNvPr id="31" name="Text 29"/>
          <p:cNvSpPr/>
          <p:nvPr/>
        </p:nvSpPr>
        <p:spPr>
          <a:xfrm>
            <a:off x="8814816" y="1645920"/>
            <a:ext cx="28072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4/15</a:t>
            </a:r>
            <a:endParaRPr lang="en-US" sz="750" dirty="0"/>
          </a:p>
        </p:txBody>
      </p:sp>
      <p:sp>
        <p:nvSpPr>
          <p:cNvPr id="32" name="Shape 30"/>
          <p:cNvSpPr/>
          <p:nvPr/>
        </p:nvSpPr>
        <p:spPr>
          <a:xfrm>
            <a:off x="274320" y="1920240"/>
            <a:ext cx="4114800" cy="256032"/>
          </a:xfrm>
          <a:prstGeom prst="rect">
            <a:avLst/>
          </a:prstGeom>
          <a:solidFill>
            <a:srgbClr val="FFFFFF"/>
          </a:solidFill>
          <a:ln w="2540">
            <a:solidFill>
              <a:srgbClr val="2E75B6"/>
            </a:solidFill>
            <a:prstDash val="solid"/>
          </a:ln>
        </p:spPr>
      </p:sp>
      <p:sp>
        <p:nvSpPr>
          <p:cNvPr id="33" name="Text 31"/>
          <p:cNvSpPr/>
          <p:nvPr/>
        </p:nvSpPr>
        <p:spPr>
          <a:xfrm>
            <a:off x="310896" y="1920240"/>
            <a:ext cx="4059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高温環境検証を全製品の設計FMEAテンプレートへ標準化</a:t>
            </a:r>
            <a:endParaRPr lang="en-US" sz="750" dirty="0"/>
          </a:p>
        </p:txBody>
      </p:sp>
      <p:sp>
        <p:nvSpPr>
          <p:cNvPr id="34" name="Shape 32"/>
          <p:cNvSpPr/>
          <p:nvPr/>
        </p:nvSpPr>
        <p:spPr>
          <a:xfrm>
            <a:off x="4389120" y="1920240"/>
            <a:ext cx="3200400" cy="256032"/>
          </a:xfrm>
          <a:prstGeom prst="rect">
            <a:avLst/>
          </a:prstGeom>
          <a:solidFill>
            <a:srgbClr val="FFFFFF"/>
          </a:solidFill>
          <a:ln w="2540">
            <a:solidFill>
              <a:srgbClr val="2E75B6"/>
            </a:solidFill>
            <a:prstDash val="solid"/>
          </a:ln>
        </p:spPr>
      </p:sp>
      <p:sp>
        <p:nvSpPr>
          <p:cNvPr id="35" name="Text 33"/>
          <p:cNvSpPr/>
          <p:nvPr/>
        </p:nvSpPr>
        <p:spPr>
          <a:xfrm>
            <a:off x="4425696" y="1920240"/>
            <a:ext cx="31455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開発部 標準FMEA書式</a:t>
            </a:r>
            <a:endParaRPr lang="en-US" sz="750" dirty="0"/>
          </a:p>
        </p:txBody>
      </p:sp>
      <p:sp>
        <p:nvSpPr>
          <p:cNvPr id="36" name="Shape 34"/>
          <p:cNvSpPr/>
          <p:nvPr/>
        </p:nvSpPr>
        <p:spPr>
          <a:xfrm>
            <a:off x="7589520" y="1920240"/>
            <a:ext cx="1188720" cy="256032"/>
          </a:xfrm>
          <a:prstGeom prst="rect">
            <a:avLst/>
          </a:prstGeom>
          <a:solidFill>
            <a:srgbClr val="FFFFFF"/>
          </a:solidFill>
          <a:ln w="2540">
            <a:solidFill>
              <a:srgbClr val="2E75B6"/>
            </a:solidFill>
            <a:prstDash val="solid"/>
          </a:ln>
        </p:spPr>
      </p:sp>
      <p:sp>
        <p:nvSpPr>
          <p:cNvPr id="37" name="Text 35"/>
          <p:cNvSpPr/>
          <p:nvPr/>
        </p:nvSpPr>
        <p:spPr>
          <a:xfrm>
            <a:off x="7626096" y="1920240"/>
            <a:ext cx="11338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開発部</a:t>
            </a:r>
            <a:endParaRPr lang="en-US" sz="750" dirty="0"/>
          </a:p>
        </p:txBody>
      </p:sp>
      <p:sp>
        <p:nvSpPr>
          <p:cNvPr id="38" name="Shape 36"/>
          <p:cNvSpPr/>
          <p:nvPr/>
        </p:nvSpPr>
        <p:spPr>
          <a:xfrm>
            <a:off x="8778240" y="1920240"/>
            <a:ext cx="2862072" cy="256032"/>
          </a:xfrm>
          <a:prstGeom prst="rect">
            <a:avLst/>
          </a:prstGeom>
          <a:solidFill>
            <a:srgbClr val="FFFFFF"/>
          </a:solidFill>
          <a:ln w="2540">
            <a:solidFill>
              <a:srgbClr val="2E75B6"/>
            </a:solidFill>
            <a:prstDash val="solid"/>
          </a:ln>
        </p:spPr>
      </p:sp>
      <p:sp>
        <p:nvSpPr>
          <p:cNvPr id="39" name="Text 37"/>
          <p:cNvSpPr/>
          <p:nvPr/>
        </p:nvSpPr>
        <p:spPr>
          <a:xfrm>
            <a:off x="8814816" y="1920240"/>
            <a:ext cx="28072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4/30</a:t>
            </a:r>
            <a:endParaRPr lang="en-US" sz="750" dirty="0"/>
          </a:p>
        </p:txBody>
      </p:sp>
      <p:sp>
        <p:nvSpPr>
          <p:cNvPr id="40" name="Shape 38"/>
          <p:cNvSpPr/>
          <p:nvPr/>
        </p:nvSpPr>
        <p:spPr>
          <a:xfrm>
            <a:off x="274320" y="2194560"/>
            <a:ext cx="4114800" cy="256032"/>
          </a:xfrm>
          <a:prstGeom prst="rect">
            <a:avLst/>
          </a:prstGeom>
          <a:solidFill>
            <a:srgbClr val="F0F6FF"/>
          </a:solidFill>
          <a:ln w="2540">
            <a:solidFill>
              <a:srgbClr val="2E75B6"/>
            </a:solidFill>
            <a:prstDash val="solid"/>
          </a:ln>
        </p:spPr>
      </p:sp>
      <p:sp>
        <p:nvSpPr>
          <p:cNvPr id="41" name="Text 39"/>
          <p:cNvSpPr/>
          <p:nvPr/>
        </p:nvSpPr>
        <p:spPr>
          <a:xfrm>
            <a:off x="310896" y="2194560"/>
            <a:ext cx="4059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多点校正を標準出荷検査として社内規定 QS-001 に明記</a:t>
            </a:r>
            <a:endParaRPr lang="en-US" sz="750" dirty="0"/>
          </a:p>
        </p:txBody>
      </p:sp>
      <p:sp>
        <p:nvSpPr>
          <p:cNvPr id="42" name="Shape 40"/>
          <p:cNvSpPr/>
          <p:nvPr/>
        </p:nvSpPr>
        <p:spPr>
          <a:xfrm>
            <a:off x="4389120" y="2194560"/>
            <a:ext cx="3200400" cy="256032"/>
          </a:xfrm>
          <a:prstGeom prst="rect">
            <a:avLst/>
          </a:prstGeom>
          <a:solidFill>
            <a:srgbClr val="F0F6FF"/>
          </a:solidFill>
          <a:ln w="2540">
            <a:solidFill>
              <a:srgbClr val="2E75B6"/>
            </a:solidFill>
            <a:prstDash val="solid"/>
          </a:ln>
        </p:spPr>
      </p:sp>
      <p:sp>
        <p:nvSpPr>
          <p:cNvPr id="43" name="Text 41"/>
          <p:cNvSpPr/>
          <p:nvPr/>
        </p:nvSpPr>
        <p:spPr>
          <a:xfrm>
            <a:off x="4425696" y="2194560"/>
            <a:ext cx="31455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品質マニュアル Rev.6</a:t>
            </a:r>
            <a:endParaRPr lang="en-US" sz="750" dirty="0"/>
          </a:p>
        </p:txBody>
      </p:sp>
      <p:sp>
        <p:nvSpPr>
          <p:cNvPr id="44" name="Shape 42"/>
          <p:cNvSpPr/>
          <p:nvPr/>
        </p:nvSpPr>
        <p:spPr>
          <a:xfrm>
            <a:off x="7589520" y="2194560"/>
            <a:ext cx="1188720" cy="256032"/>
          </a:xfrm>
          <a:prstGeom prst="rect">
            <a:avLst/>
          </a:prstGeom>
          <a:solidFill>
            <a:srgbClr val="F0F6FF"/>
          </a:solidFill>
          <a:ln w="2540">
            <a:solidFill>
              <a:srgbClr val="2E75B6"/>
            </a:solidFill>
            <a:prstDash val="solid"/>
          </a:ln>
        </p:spPr>
      </p:sp>
      <p:sp>
        <p:nvSpPr>
          <p:cNvPr id="45" name="Text 43"/>
          <p:cNvSpPr/>
          <p:nvPr/>
        </p:nvSpPr>
        <p:spPr>
          <a:xfrm>
            <a:off x="7626096" y="2194560"/>
            <a:ext cx="11338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品証部</a:t>
            </a:r>
            <a:endParaRPr lang="en-US" sz="750" dirty="0"/>
          </a:p>
        </p:txBody>
      </p:sp>
      <p:sp>
        <p:nvSpPr>
          <p:cNvPr id="46" name="Shape 44"/>
          <p:cNvSpPr/>
          <p:nvPr/>
        </p:nvSpPr>
        <p:spPr>
          <a:xfrm>
            <a:off x="8778240" y="2194560"/>
            <a:ext cx="2862072" cy="256032"/>
          </a:xfrm>
          <a:prstGeom prst="rect">
            <a:avLst/>
          </a:prstGeom>
          <a:solidFill>
            <a:srgbClr val="F0F6FF"/>
          </a:solidFill>
          <a:ln w="2540">
            <a:solidFill>
              <a:srgbClr val="2E75B6"/>
            </a:solidFill>
            <a:prstDash val="solid"/>
          </a:ln>
        </p:spPr>
      </p:sp>
      <p:sp>
        <p:nvSpPr>
          <p:cNvPr id="47" name="Text 45"/>
          <p:cNvSpPr/>
          <p:nvPr/>
        </p:nvSpPr>
        <p:spPr>
          <a:xfrm>
            <a:off x="8814816" y="2194560"/>
            <a:ext cx="28072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4/20</a:t>
            </a:r>
            <a:endParaRPr lang="en-US" sz="750" dirty="0"/>
          </a:p>
        </p:txBody>
      </p:sp>
      <p:sp>
        <p:nvSpPr>
          <p:cNvPr id="48" name="Shape 46"/>
          <p:cNvSpPr/>
          <p:nvPr/>
        </p:nvSpPr>
        <p:spPr>
          <a:xfrm>
            <a:off x="274320" y="2468880"/>
            <a:ext cx="4114800" cy="256032"/>
          </a:xfrm>
          <a:prstGeom prst="rect">
            <a:avLst/>
          </a:prstGeom>
          <a:solidFill>
            <a:srgbClr val="FFFFFF"/>
          </a:solidFill>
          <a:ln w="2540">
            <a:solidFill>
              <a:srgbClr val="2E75B6"/>
            </a:solidFill>
            <a:prstDash val="solid"/>
          </a:ln>
        </p:spPr>
      </p:sp>
      <p:sp>
        <p:nvSpPr>
          <p:cNvPr id="49" name="Text 47"/>
          <p:cNvSpPr/>
          <p:nvPr/>
        </p:nvSpPr>
        <p:spPr>
          <a:xfrm>
            <a:off x="310896" y="2468880"/>
            <a:ext cx="40599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類似構造製品（XS-300, 400）の校正実態を緊急調査・対策</a:t>
            </a:r>
            <a:endParaRPr lang="en-US" sz="750" dirty="0"/>
          </a:p>
        </p:txBody>
      </p:sp>
      <p:sp>
        <p:nvSpPr>
          <p:cNvPr id="50" name="Shape 48"/>
          <p:cNvSpPr/>
          <p:nvPr/>
        </p:nvSpPr>
        <p:spPr>
          <a:xfrm>
            <a:off x="4389120" y="2468880"/>
            <a:ext cx="3200400" cy="256032"/>
          </a:xfrm>
          <a:prstGeom prst="rect">
            <a:avLst/>
          </a:prstGeom>
          <a:solidFill>
            <a:srgbClr val="FFFFFF"/>
          </a:solidFill>
          <a:ln w="2540">
            <a:solidFill>
              <a:srgbClr val="2E75B6"/>
            </a:solidFill>
            <a:prstDash val="solid"/>
          </a:ln>
        </p:spPr>
      </p:sp>
      <p:sp>
        <p:nvSpPr>
          <p:cNvPr id="51" name="Text 49"/>
          <p:cNvSpPr/>
          <p:nvPr/>
        </p:nvSpPr>
        <p:spPr>
          <a:xfrm>
            <a:off x="4425696" y="2468880"/>
            <a:ext cx="3145536" cy="256032"/>
          </a:xfrm>
          <a:prstGeom prst="rect">
            <a:avLst/>
          </a:prstGeom>
          <a:noFill/>
          <a:ln/>
        </p:spPr>
        <p:txBody>
          <a:bodyPr wrap="square"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XS-300, XS-400 全在庫</a:t>
            </a:r>
            <a:endParaRPr lang="en-US" sz="750" dirty="0"/>
          </a:p>
        </p:txBody>
      </p:sp>
      <p:sp>
        <p:nvSpPr>
          <p:cNvPr id="52" name="Shape 50"/>
          <p:cNvSpPr/>
          <p:nvPr/>
        </p:nvSpPr>
        <p:spPr>
          <a:xfrm>
            <a:off x="7589520" y="2468880"/>
            <a:ext cx="1188720" cy="256032"/>
          </a:xfrm>
          <a:prstGeom prst="rect">
            <a:avLst/>
          </a:prstGeom>
          <a:solidFill>
            <a:srgbClr val="FFFFFF"/>
          </a:solidFill>
          <a:ln w="2540">
            <a:solidFill>
              <a:srgbClr val="2E75B6"/>
            </a:solidFill>
            <a:prstDash val="solid"/>
          </a:ln>
        </p:spPr>
      </p:sp>
      <p:sp>
        <p:nvSpPr>
          <p:cNvPr id="53" name="Text 51"/>
          <p:cNvSpPr/>
          <p:nvPr/>
        </p:nvSpPr>
        <p:spPr>
          <a:xfrm>
            <a:off x="7626096" y="2468880"/>
            <a:ext cx="1133856"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品証部</a:t>
            </a:r>
            <a:endParaRPr lang="en-US" sz="750" dirty="0"/>
          </a:p>
        </p:txBody>
      </p:sp>
      <p:sp>
        <p:nvSpPr>
          <p:cNvPr id="54" name="Shape 52"/>
          <p:cNvSpPr/>
          <p:nvPr/>
        </p:nvSpPr>
        <p:spPr>
          <a:xfrm>
            <a:off x="8778240" y="2468880"/>
            <a:ext cx="2862072" cy="256032"/>
          </a:xfrm>
          <a:prstGeom prst="rect">
            <a:avLst/>
          </a:prstGeom>
          <a:solidFill>
            <a:srgbClr val="FFFFFF"/>
          </a:solidFill>
          <a:ln w="2540">
            <a:solidFill>
              <a:srgbClr val="2E75B6"/>
            </a:solidFill>
            <a:prstDash val="solid"/>
          </a:ln>
        </p:spPr>
      </p:sp>
      <p:sp>
        <p:nvSpPr>
          <p:cNvPr id="55" name="Text 53"/>
          <p:cNvSpPr/>
          <p:nvPr/>
        </p:nvSpPr>
        <p:spPr>
          <a:xfrm>
            <a:off x="8814816" y="2468880"/>
            <a:ext cx="2807208" cy="256032"/>
          </a:xfrm>
          <a:prstGeom prst="rect">
            <a:avLst/>
          </a:prstGeom>
          <a:noFill/>
          <a:ln/>
        </p:spPr>
        <p:txBody>
          <a:bodyPr wrap="square" rtlCol="0" anchor="ctr"/>
          <a:lstStyle/>
          <a:p>
            <a:pPr algn="ctr" indent="0" marL="0">
              <a:buNone/>
            </a:pPr>
            <a:r>
              <a:rPr lang="en-US" sz="750" dirty="0">
                <a:solidFill>
                  <a:srgbClr val="1A1A1A"/>
                </a:solidFill>
                <a:latin typeface="Calibri" pitchFamily="34" charset="0"/>
                <a:ea typeface="Calibri" pitchFamily="34" charset="-122"/>
                <a:cs typeface="Calibri" pitchFamily="34" charset="-120"/>
              </a:rPr>
              <a:t>4/10</a:t>
            </a:r>
            <a:endParaRPr lang="en-US" sz="750" dirty="0"/>
          </a:p>
        </p:txBody>
      </p:sp>
      <p:sp>
        <p:nvSpPr>
          <p:cNvPr id="56" name="Shape 54"/>
          <p:cNvSpPr/>
          <p:nvPr/>
        </p:nvSpPr>
        <p:spPr>
          <a:xfrm>
            <a:off x="274320" y="2798064"/>
            <a:ext cx="11640312" cy="438912"/>
          </a:xfrm>
          <a:prstGeom prst="rect">
            <a:avLst/>
          </a:prstGeom>
          <a:solidFill>
            <a:srgbClr val="F0F6FF"/>
          </a:solidFill>
          <a:ln w="3810">
            <a:solidFill>
              <a:srgbClr val="2E75B6"/>
            </a:solidFill>
            <a:prstDash val="solid"/>
          </a:ln>
        </p:spPr>
      </p:sp>
      <p:sp>
        <p:nvSpPr>
          <p:cNvPr id="57" name="Text 55"/>
          <p:cNvSpPr/>
          <p:nvPr/>
        </p:nvSpPr>
        <p:spPr>
          <a:xfrm>
            <a:off x="329184" y="2825496"/>
            <a:ext cx="11548872" cy="182880"/>
          </a:xfrm>
          <a:prstGeom prst="rect">
            <a:avLst/>
          </a:prstGeom>
          <a:noFill/>
          <a:ln/>
        </p:spPr>
        <p:txBody>
          <a:bodyPr wrap="square" rtlCol="0" anchor="ctr"/>
          <a:lstStyle/>
          <a:p>
            <a:pPr indent="0" marL="0">
              <a:buNone/>
            </a:pPr>
            <a:r>
              <a:rPr lang="en-US" sz="750" b="1" dirty="0">
                <a:solidFill>
                  <a:srgbClr val="1A3A5C"/>
                </a:solidFill>
                <a:latin typeface="Calibri" pitchFamily="34" charset="0"/>
                <a:ea typeface="Calibri" pitchFamily="34" charset="-122"/>
                <a:cs typeface="Calibri" pitchFamily="34" charset="-120"/>
              </a:rPr>
              <a:t>システム・標準類への反映</a:t>
            </a:r>
            <a:endParaRPr lang="en-US" sz="750" dirty="0"/>
          </a:p>
        </p:txBody>
      </p:sp>
      <p:sp>
        <p:nvSpPr>
          <p:cNvPr id="58" name="Text 56"/>
          <p:cNvSpPr/>
          <p:nvPr/>
        </p:nvSpPr>
        <p:spPr>
          <a:xfrm>
            <a:off x="347472" y="2999232"/>
            <a:ext cx="11512296" cy="201168"/>
          </a:xfrm>
          <a:prstGeom prst="rect">
            <a:avLst/>
          </a:prstGeom>
          <a:noFill/>
          <a:ln/>
        </p:spPr>
        <p:txBody>
          <a:bodyPr wrap="square" rtlCol="0" anchor="t"/>
          <a:lstStyle/>
          <a:p>
            <a:pPr indent="0" marL="0">
              <a:buNone/>
            </a:pPr>
            <a:r>
              <a:rPr lang="en-US" sz="850" dirty="0">
                <a:solidFill>
                  <a:srgbClr val="1A1A1A"/>
                </a:solidFill>
                <a:latin typeface="Calibri" pitchFamily="34" charset="0"/>
                <a:ea typeface="Calibri" pitchFamily="34" charset="-122"/>
                <a:cs typeface="Calibri" pitchFamily="34" charset="-120"/>
              </a:rPr>
              <a:t>設計標準 DS-THERMAL-001「熱環境設計検証手順」新規制定（4/30）　調達基準 PS-CR-002「温度依存性重要部品管理」改訂（4/15）　品質マニュアル QM-Rev.6 全社展開（4/20）</a:t>
            </a:r>
            <a:endParaRPr lang="en-US" sz="850" dirty="0"/>
          </a:p>
        </p:txBody>
      </p:sp>
      <p:sp>
        <p:nvSpPr>
          <p:cNvPr id="59" name="Shape 57"/>
          <p:cNvSpPr/>
          <p:nvPr/>
        </p:nvSpPr>
        <p:spPr>
          <a:xfrm>
            <a:off x="274320" y="3310128"/>
            <a:ext cx="11640312" cy="329184"/>
          </a:xfrm>
          <a:prstGeom prst="rect">
            <a:avLst/>
          </a:prstGeom>
          <a:solidFill>
            <a:srgbClr val="1B5E20"/>
          </a:solidFill>
          <a:ln w="12700">
            <a:solidFill>
              <a:srgbClr val="1B5E20"/>
            </a:solidFill>
            <a:prstDash val="solid"/>
          </a:ln>
        </p:spPr>
      </p:sp>
      <p:sp>
        <p:nvSpPr>
          <p:cNvPr id="60" name="Shape 58"/>
          <p:cNvSpPr/>
          <p:nvPr/>
        </p:nvSpPr>
        <p:spPr>
          <a:xfrm>
            <a:off x="329184" y="3355848"/>
            <a:ext cx="512064" cy="237744"/>
          </a:xfrm>
          <a:prstGeom prst="roundRect">
            <a:avLst>
              <a:gd name="adj" fmla="val 30769"/>
            </a:avLst>
          </a:prstGeom>
          <a:solidFill>
            <a:srgbClr val="FFFFFF"/>
          </a:solidFill>
          <a:ln w="12700">
            <a:solidFill>
              <a:srgbClr val="FFFFFF"/>
            </a:solidFill>
            <a:prstDash val="solid"/>
          </a:ln>
        </p:spPr>
      </p:sp>
      <p:sp>
        <p:nvSpPr>
          <p:cNvPr id="61" name="Text 59"/>
          <p:cNvSpPr/>
          <p:nvPr/>
        </p:nvSpPr>
        <p:spPr>
          <a:xfrm>
            <a:off x="329184" y="3355848"/>
            <a:ext cx="512064" cy="237744"/>
          </a:xfrm>
          <a:prstGeom prst="rect">
            <a:avLst/>
          </a:prstGeom>
          <a:noFill/>
          <a:ln/>
        </p:spPr>
        <p:txBody>
          <a:bodyPr wrap="square" rtlCol="0" anchor="ctr"/>
          <a:lstStyle/>
          <a:p>
            <a:pPr algn="ctr" indent="0" marL="0">
              <a:buNone/>
            </a:pPr>
            <a:r>
              <a:rPr lang="en-US" sz="900" b="1" dirty="0">
                <a:solidFill>
                  <a:srgbClr val="1B5E20"/>
                </a:solidFill>
                <a:latin typeface="Calibri" pitchFamily="34" charset="0"/>
                <a:ea typeface="Calibri" pitchFamily="34" charset="-122"/>
                <a:cs typeface="Calibri" pitchFamily="34" charset="-120"/>
              </a:rPr>
              <a:t>D8</a:t>
            </a:r>
            <a:endParaRPr lang="en-US" sz="900" dirty="0"/>
          </a:p>
        </p:txBody>
      </p:sp>
      <p:sp>
        <p:nvSpPr>
          <p:cNvPr id="62" name="Text 60"/>
          <p:cNvSpPr/>
          <p:nvPr/>
        </p:nvSpPr>
        <p:spPr>
          <a:xfrm>
            <a:off x="896112" y="3364992"/>
            <a:ext cx="10963656"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チームへの感謝とクロージャー（Closure）</a:t>
            </a:r>
            <a:endParaRPr lang="en-US" sz="1100" dirty="0"/>
          </a:p>
        </p:txBody>
      </p:sp>
      <p:sp>
        <p:nvSpPr>
          <p:cNvPr id="63" name="Shape 61"/>
          <p:cNvSpPr/>
          <p:nvPr/>
        </p:nvSpPr>
        <p:spPr>
          <a:xfrm>
            <a:off x="274320" y="3694176"/>
            <a:ext cx="1371600" cy="274320"/>
          </a:xfrm>
          <a:prstGeom prst="rect">
            <a:avLst/>
          </a:prstGeom>
          <a:solidFill>
            <a:srgbClr val="D6E4F0"/>
          </a:solidFill>
          <a:ln w="3810">
            <a:solidFill>
              <a:srgbClr val="2E75B6"/>
            </a:solidFill>
            <a:prstDash val="solid"/>
          </a:ln>
        </p:spPr>
      </p:sp>
      <p:sp>
        <p:nvSpPr>
          <p:cNvPr id="64" name="Text 62"/>
          <p:cNvSpPr/>
          <p:nvPr/>
        </p:nvSpPr>
        <p:spPr>
          <a:xfrm>
            <a:off x="329184" y="3694176"/>
            <a:ext cx="129844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クローズ日</a:t>
            </a:r>
            <a:endParaRPr lang="en-US" sz="850" dirty="0"/>
          </a:p>
        </p:txBody>
      </p:sp>
      <p:sp>
        <p:nvSpPr>
          <p:cNvPr id="65" name="Shape 63"/>
          <p:cNvSpPr/>
          <p:nvPr/>
        </p:nvSpPr>
        <p:spPr>
          <a:xfrm>
            <a:off x="1645920" y="3694176"/>
            <a:ext cx="3840480" cy="274320"/>
          </a:xfrm>
          <a:prstGeom prst="rect">
            <a:avLst/>
          </a:prstGeom>
          <a:solidFill>
            <a:srgbClr val="F0F6FF"/>
          </a:solidFill>
          <a:ln w="3810">
            <a:solidFill>
              <a:srgbClr val="2E75B6"/>
            </a:solidFill>
            <a:prstDash val="solid"/>
          </a:ln>
        </p:spPr>
      </p:sp>
      <p:sp>
        <p:nvSpPr>
          <p:cNvPr id="66" name="Text 64"/>
          <p:cNvSpPr/>
          <p:nvPr/>
        </p:nvSpPr>
        <p:spPr>
          <a:xfrm>
            <a:off x="1700784" y="3694176"/>
            <a:ext cx="3749040"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2025年4月5日</a:t>
            </a:r>
            <a:endParaRPr lang="en-US" sz="850" dirty="0"/>
          </a:p>
        </p:txBody>
      </p:sp>
      <p:sp>
        <p:nvSpPr>
          <p:cNvPr id="67" name="Shape 65"/>
          <p:cNvSpPr/>
          <p:nvPr/>
        </p:nvSpPr>
        <p:spPr>
          <a:xfrm>
            <a:off x="274320" y="3986784"/>
            <a:ext cx="1371600" cy="274320"/>
          </a:xfrm>
          <a:prstGeom prst="rect">
            <a:avLst/>
          </a:prstGeom>
          <a:solidFill>
            <a:srgbClr val="D6E4F0"/>
          </a:solidFill>
          <a:ln w="3810">
            <a:solidFill>
              <a:srgbClr val="2E75B6"/>
            </a:solidFill>
            <a:prstDash val="solid"/>
          </a:ln>
        </p:spPr>
      </p:sp>
      <p:sp>
        <p:nvSpPr>
          <p:cNvPr id="68" name="Text 66"/>
          <p:cNvSpPr/>
          <p:nvPr/>
        </p:nvSpPr>
        <p:spPr>
          <a:xfrm>
            <a:off x="329184" y="3986784"/>
            <a:ext cx="1298448" cy="274320"/>
          </a:xfrm>
          <a:prstGeom prst="rect">
            <a:avLst/>
          </a:prstGeom>
          <a:noFill/>
          <a:ln/>
        </p:spPr>
        <p:txBody>
          <a:bodyPr wrap="square" rtlCol="0" anchor="ctr"/>
          <a:lstStyle/>
          <a:p>
            <a:pPr indent="0" marL="0">
              <a:buNone/>
            </a:pPr>
            <a:r>
              <a:rPr lang="en-US" sz="850" b="1" dirty="0">
                <a:solidFill>
                  <a:srgbClr val="1A3A5C"/>
                </a:solidFill>
                <a:latin typeface="Calibri" pitchFamily="34" charset="0"/>
                <a:ea typeface="Calibri" pitchFamily="34" charset="-122"/>
                <a:cs typeface="Calibri" pitchFamily="34" charset="-120"/>
              </a:rPr>
              <a:t>クローズ判定者</a:t>
            </a:r>
            <a:endParaRPr lang="en-US" sz="850" dirty="0"/>
          </a:p>
        </p:txBody>
      </p:sp>
      <p:sp>
        <p:nvSpPr>
          <p:cNvPr id="69" name="Shape 67"/>
          <p:cNvSpPr/>
          <p:nvPr/>
        </p:nvSpPr>
        <p:spPr>
          <a:xfrm>
            <a:off x="1645920" y="3986784"/>
            <a:ext cx="3840480" cy="274320"/>
          </a:xfrm>
          <a:prstGeom prst="rect">
            <a:avLst/>
          </a:prstGeom>
          <a:solidFill>
            <a:srgbClr val="F0F6FF"/>
          </a:solidFill>
          <a:ln w="3810">
            <a:solidFill>
              <a:srgbClr val="2E75B6"/>
            </a:solidFill>
            <a:prstDash val="solid"/>
          </a:ln>
        </p:spPr>
      </p:sp>
      <p:sp>
        <p:nvSpPr>
          <p:cNvPr id="70" name="Text 68"/>
          <p:cNvSpPr/>
          <p:nvPr/>
        </p:nvSpPr>
        <p:spPr>
          <a:xfrm>
            <a:off x="1700784" y="3986784"/>
            <a:ext cx="3749040" cy="274320"/>
          </a:xfrm>
          <a:prstGeom prst="rect">
            <a:avLst/>
          </a:prstGeom>
          <a:noFill/>
          <a:ln/>
        </p:spPr>
        <p:txBody>
          <a:bodyPr wrap="square" rtlCol="0" anchor="ctr"/>
          <a:lstStyle/>
          <a:p>
            <a:pPr indent="0" marL="0">
              <a:buNone/>
            </a:pPr>
            <a:r>
              <a:rPr lang="en-US" sz="850" dirty="0">
                <a:solidFill>
                  <a:srgbClr val="1A1A1A"/>
                </a:solidFill>
                <a:latin typeface="Calibri" pitchFamily="34" charset="0"/>
                <a:ea typeface="Calibri" pitchFamily="34" charset="-122"/>
                <a:cs typeface="Calibri" pitchFamily="34" charset="-120"/>
              </a:rPr>
              <a:t>鈴木 部長（品質保証部長）</a:t>
            </a:r>
            <a:endParaRPr lang="en-US" sz="850" dirty="0"/>
          </a:p>
        </p:txBody>
      </p:sp>
      <p:sp>
        <p:nvSpPr>
          <p:cNvPr id="71" name="Shape 69"/>
          <p:cNvSpPr/>
          <p:nvPr/>
        </p:nvSpPr>
        <p:spPr>
          <a:xfrm>
            <a:off x="5760720" y="3694176"/>
            <a:ext cx="6126480" cy="621792"/>
          </a:xfrm>
          <a:prstGeom prst="rect">
            <a:avLst/>
          </a:prstGeom>
          <a:solidFill>
            <a:srgbClr val="F0F6FF"/>
          </a:solidFill>
          <a:ln w="3810">
            <a:solidFill>
              <a:srgbClr val="2E75B6"/>
            </a:solidFill>
            <a:prstDash val="solid"/>
          </a:ln>
        </p:spPr>
      </p:sp>
      <p:sp>
        <p:nvSpPr>
          <p:cNvPr id="72" name="Text 70"/>
          <p:cNvSpPr/>
          <p:nvPr/>
        </p:nvSpPr>
        <p:spPr>
          <a:xfrm>
            <a:off x="5815584" y="3721608"/>
            <a:ext cx="6035040" cy="182880"/>
          </a:xfrm>
          <a:prstGeom prst="rect">
            <a:avLst/>
          </a:prstGeom>
          <a:noFill/>
          <a:ln/>
        </p:spPr>
        <p:txBody>
          <a:bodyPr wrap="square" rtlCol="0" anchor="ctr"/>
          <a:lstStyle/>
          <a:p>
            <a:pPr indent="0" marL="0">
              <a:buNone/>
            </a:pPr>
            <a:r>
              <a:rPr lang="en-US" sz="750" b="1" dirty="0">
                <a:solidFill>
                  <a:srgbClr val="1A3A5C"/>
                </a:solidFill>
                <a:latin typeface="Calibri" pitchFamily="34" charset="0"/>
                <a:ea typeface="Calibri" pitchFamily="34" charset="-122"/>
                <a:cs typeface="Calibri" pitchFamily="34" charset="-120"/>
              </a:rPr>
              <a:t>チームへの感謝・総括</a:t>
            </a:r>
            <a:endParaRPr lang="en-US" sz="750" dirty="0"/>
          </a:p>
        </p:txBody>
      </p:sp>
      <p:sp>
        <p:nvSpPr>
          <p:cNvPr id="73" name="Text 71"/>
          <p:cNvSpPr/>
          <p:nvPr/>
        </p:nvSpPr>
        <p:spPr>
          <a:xfrm>
            <a:off x="5833872" y="3895344"/>
            <a:ext cx="5998464" cy="384048"/>
          </a:xfrm>
          <a:prstGeom prst="rect">
            <a:avLst/>
          </a:prstGeom>
          <a:noFill/>
          <a:ln/>
        </p:spPr>
        <p:txBody>
          <a:bodyPr wrap="square" rtlCol="0" anchor="t"/>
          <a:lstStyle/>
          <a:p>
            <a:pPr indent="0" marL="0">
              <a:buNone/>
            </a:pPr>
            <a:r>
              <a:rPr lang="en-US" sz="850" dirty="0">
                <a:solidFill>
                  <a:srgbClr val="1A1A1A"/>
                </a:solidFill>
                <a:latin typeface="Calibri" pitchFamily="34" charset="0"/>
                <a:ea typeface="Calibri" pitchFamily="34" charset="-122"/>
                <a:cs typeface="Calibri" pitchFamily="34" charset="-120"/>
              </a:rPr>
              <a:t>迅速な初動対応を行ったチーム全員に感謝します。特に開発部の鈴木さんには根本原因特定で多大な貢献をいただきました。今回の改善は他製品ラインにも展開され、品質システム全体の向上につながりました。顧客との信頼関係も回復できています。</a:t>
            </a:r>
            <a:endParaRPr lang="en-US" sz="850" dirty="0"/>
          </a:p>
        </p:txBody>
      </p:sp>
      <p:sp>
        <p:nvSpPr>
          <p:cNvPr id="74" name="Shape 72"/>
          <p:cNvSpPr/>
          <p:nvPr/>
        </p:nvSpPr>
        <p:spPr>
          <a:xfrm>
            <a:off x="274320" y="4425696"/>
            <a:ext cx="11640312" cy="256032"/>
          </a:xfrm>
          <a:prstGeom prst="rect">
            <a:avLst/>
          </a:prstGeom>
          <a:solidFill>
            <a:srgbClr val="1A3A5C"/>
          </a:solidFill>
          <a:ln w="12700">
            <a:solidFill>
              <a:srgbClr val="1A3A5C"/>
            </a:solidFill>
            <a:prstDash val="solid"/>
          </a:ln>
        </p:spPr>
      </p:sp>
      <p:sp>
        <p:nvSpPr>
          <p:cNvPr id="75" name="Text 73"/>
          <p:cNvSpPr/>
          <p:nvPr/>
        </p:nvSpPr>
        <p:spPr>
          <a:xfrm>
            <a:off x="274320" y="4425696"/>
            <a:ext cx="11640312" cy="256032"/>
          </a:xfrm>
          <a:prstGeom prst="rect">
            <a:avLst/>
          </a:prstGeom>
          <a:noFill/>
          <a:ln/>
        </p:spPr>
        <p:txBody>
          <a:bodyPr wrap="square" lIns="0" tIns="10160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承認・確認（Approval）</a:t>
            </a:r>
            <a:endParaRPr lang="en-US" sz="1000" dirty="0"/>
          </a:p>
        </p:txBody>
      </p:sp>
      <p:sp>
        <p:nvSpPr>
          <p:cNvPr id="76" name="Shape 74"/>
          <p:cNvSpPr/>
          <p:nvPr/>
        </p:nvSpPr>
        <p:spPr>
          <a:xfrm>
            <a:off x="274320" y="4700016"/>
            <a:ext cx="2910078" cy="256032"/>
          </a:xfrm>
          <a:prstGeom prst="rect">
            <a:avLst/>
          </a:prstGeom>
          <a:solidFill>
            <a:srgbClr val="D6E4F0"/>
          </a:solidFill>
          <a:ln w="3810">
            <a:solidFill>
              <a:srgbClr val="2E75B6"/>
            </a:solidFill>
            <a:prstDash val="solid"/>
          </a:ln>
        </p:spPr>
      </p:sp>
      <p:sp>
        <p:nvSpPr>
          <p:cNvPr id="77" name="Text 75"/>
          <p:cNvSpPr/>
          <p:nvPr/>
        </p:nvSpPr>
        <p:spPr>
          <a:xfrm>
            <a:off x="310896" y="4700016"/>
            <a:ext cx="2855214" cy="256032"/>
          </a:xfrm>
          <a:prstGeom prst="rect">
            <a:avLst/>
          </a:prstGeom>
          <a:noFill/>
          <a:ln/>
        </p:spPr>
        <p:txBody>
          <a:bodyPr wrap="square" rtlCol="0" anchor="ctr"/>
          <a:lstStyle/>
          <a:p>
            <a:pPr algn="ctr" indent="0" marL="0">
              <a:buNone/>
            </a:pPr>
            <a:r>
              <a:rPr lang="en-US" sz="800" b="1" dirty="0">
                <a:solidFill>
                  <a:srgbClr val="1A3A5C"/>
                </a:solidFill>
                <a:latin typeface="Calibri" pitchFamily="34" charset="0"/>
                <a:ea typeface="Calibri" pitchFamily="34" charset="-122"/>
                <a:cs typeface="Calibri" pitchFamily="34" charset="-120"/>
              </a:rPr>
              <a:t>作成者</a:t>
            </a:r>
            <a:endParaRPr lang="en-US" sz="800" dirty="0"/>
          </a:p>
        </p:txBody>
      </p:sp>
      <p:sp>
        <p:nvSpPr>
          <p:cNvPr id="78" name="Shape 76"/>
          <p:cNvSpPr/>
          <p:nvPr/>
        </p:nvSpPr>
        <p:spPr>
          <a:xfrm>
            <a:off x="274320" y="4956048"/>
            <a:ext cx="2910078" cy="347472"/>
          </a:xfrm>
          <a:prstGeom prst="rect">
            <a:avLst/>
          </a:prstGeom>
          <a:solidFill>
            <a:srgbClr val="F0F6FF"/>
          </a:solidFill>
          <a:ln w="3810">
            <a:solidFill>
              <a:srgbClr val="2E75B6"/>
            </a:solidFill>
            <a:prstDash val="solid"/>
          </a:ln>
        </p:spPr>
      </p:sp>
      <p:sp>
        <p:nvSpPr>
          <p:cNvPr id="79" name="Text 77"/>
          <p:cNvSpPr/>
          <p:nvPr/>
        </p:nvSpPr>
        <p:spPr>
          <a:xfrm>
            <a:off x="310896" y="4956048"/>
            <a:ext cx="2855214" cy="347472"/>
          </a:xfrm>
          <a:prstGeom prst="rect">
            <a:avLst/>
          </a:prstGeom>
          <a:noFill/>
          <a:ln/>
        </p:spPr>
        <p:txBody>
          <a:bodyPr wrap="square"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田中 太郎</a:t>
            </a:r>
            <a:endParaRPr lang="en-US" sz="1000" dirty="0"/>
          </a:p>
        </p:txBody>
      </p:sp>
      <p:sp>
        <p:nvSpPr>
          <p:cNvPr id="80" name="Shape 78"/>
          <p:cNvSpPr/>
          <p:nvPr/>
        </p:nvSpPr>
        <p:spPr>
          <a:xfrm>
            <a:off x="3184398" y="4700016"/>
            <a:ext cx="2910078" cy="256032"/>
          </a:xfrm>
          <a:prstGeom prst="rect">
            <a:avLst/>
          </a:prstGeom>
          <a:solidFill>
            <a:srgbClr val="D6E4F0"/>
          </a:solidFill>
          <a:ln w="3810">
            <a:solidFill>
              <a:srgbClr val="2E75B6"/>
            </a:solidFill>
            <a:prstDash val="solid"/>
          </a:ln>
        </p:spPr>
      </p:sp>
      <p:sp>
        <p:nvSpPr>
          <p:cNvPr id="81" name="Text 79"/>
          <p:cNvSpPr/>
          <p:nvPr/>
        </p:nvSpPr>
        <p:spPr>
          <a:xfrm>
            <a:off x="3220974" y="4700016"/>
            <a:ext cx="2855214" cy="256032"/>
          </a:xfrm>
          <a:prstGeom prst="rect">
            <a:avLst/>
          </a:prstGeom>
          <a:noFill/>
          <a:ln/>
        </p:spPr>
        <p:txBody>
          <a:bodyPr wrap="square" rtlCol="0" anchor="ctr"/>
          <a:lstStyle/>
          <a:p>
            <a:pPr algn="ctr" indent="0" marL="0">
              <a:buNone/>
            </a:pPr>
            <a:r>
              <a:rPr lang="en-US" sz="800" b="1" dirty="0">
                <a:solidFill>
                  <a:srgbClr val="1A3A5C"/>
                </a:solidFill>
                <a:latin typeface="Calibri" pitchFamily="34" charset="0"/>
                <a:ea typeface="Calibri" pitchFamily="34" charset="-122"/>
                <a:cs typeface="Calibri" pitchFamily="34" charset="-120"/>
              </a:rPr>
              <a:t>確認者</a:t>
            </a:r>
            <a:endParaRPr lang="en-US" sz="800" dirty="0"/>
          </a:p>
        </p:txBody>
      </p:sp>
      <p:sp>
        <p:nvSpPr>
          <p:cNvPr id="82" name="Shape 80"/>
          <p:cNvSpPr/>
          <p:nvPr/>
        </p:nvSpPr>
        <p:spPr>
          <a:xfrm>
            <a:off x="3184398" y="4956048"/>
            <a:ext cx="2910078" cy="347472"/>
          </a:xfrm>
          <a:prstGeom prst="rect">
            <a:avLst/>
          </a:prstGeom>
          <a:solidFill>
            <a:srgbClr val="F0F6FF"/>
          </a:solidFill>
          <a:ln w="3810">
            <a:solidFill>
              <a:srgbClr val="2E75B6"/>
            </a:solidFill>
            <a:prstDash val="solid"/>
          </a:ln>
        </p:spPr>
      </p:sp>
      <p:sp>
        <p:nvSpPr>
          <p:cNvPr id="83" name="Text 81"/>
          <p:cNvSpPr/>
          <p:nvPr/>
        </p:nvSpPr>
        <p:spPr>
          <a:xfrm>
            <a:off x="3220974" y="4956048"/>
            <a:ext cx="2855214" cy="347472"/>
          </a:xfrm>
          <a:prstGeom prst="rect">
            <a:avLst/>
          </a:prstGeom>
          <a:noFill/>
          <a:ln/>
        </p:spPr>
        <p:txBody>
          <a:bodyPr wrap="square"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鈴木 花子</a:t>
            </a:r>
            <a:endParaRPr lang="en-US" sz="1000" dirty="0"/>
          </a:p>
        </p:txBody>
      </p:sp>
      <p:sp>
        <p:nvSpPr>
          <p:cNvPr id="84" name="Shape 82"/>
          <p:cNvSpPr/>
          <p:nvPr/>
        </p:nvSpPr>
        <p:spPr>
          <a:xfrm>
            <a:off x="6094476" y="4700016"/>
            <a:ext cx="2910078" cy="256032"/>
          </a:xfrm>
          <a:prstGeom prst="rect">
            <a:avLst/>
          </a:prstGeom>
          <a:solidFill>
            <a:srgbClr val="D6E4F0"/>
          </a:solidFill>
          <a:ln w="3810">
            <a:solidFill>
              <a:srgbClr val="2E75B6"/>
            </a:solidFill>
            <a:prstDash val="solid"/>
          </a:ln>
        </p:spPr>
      </p:sp>
      <p:sp>
        <p:nvSpPr>
          <p:cNvPr id="85" name="Text 83"/>
          <p:cNvSpPr/>
          <p:nvPr/>
        </p:nvSpPr>
        <p:spPr>
          <a:xfrm>
            <a:off x="6131052" y="4700016"/>
            <a:ext cx="2855214" cy="256032"/>
          </a:xfrm>
          <a:prstGeom prst="rect">
            <a:avLst/>
          </a:prstGeom>
          <a:noFill/>
          <a:ln/>
        </p:spPr>
        <p:txBody>
          <a:bodyPr wrap="square" rtlCol="0" anchor="ctr"/>
          <a:lstStyle/>
          <a:p>
            <a:pPr algn="ctr" indent="0" marL="0">
              <a:buNone/>
            </a:pPr>
            <a:r>
              <a:rPr lang="en-US" sz="800" b="1" dirty="0">
                <a:solidFill>
                  <a:srgbClr val="1A3A5C"/>
                </a:solidFill>
                <a:latin typeface="Calibri" pitchFamily="34" charset="0"/>
                <a:ea typeface="Calibri" pitchFamily="34" charset="-122"/>
                <a:cs typeface="Calibri" pitchFamily="34" charset="-120"/>
              </a:rPr>
              <a:t>承認者（QA）</a:t>
            </a:r>
            <a:endParaRPr lang="en-US" sz="800" dirty="0"/>
          </a:p>
        </p:txBody>
      </p:sp>
      <p:sp>
        <p:nvSpPr>
          <p:cNvPr id="86" name="Shape 84"/>
          <p:cNvSpPr/>
          <p:nvPr/>
        </p:nvSpPr>
        <p:spPr>
          <a:xfrm>
            <a:off x="6094476" y="4956048"/>
            <a:ext cx="2910078" cy="347472"/>
          </a:xfrm>
          <a:prstGeom prst="rect">
            <a:avLst/>
          </a:prstGeom>
          <a:solidFill>
            <a:srgbClr val="F0F6FF"/>
          </a:solidFill>
          <a:ln w="3810">
            <a:solidFill>
              <a:srgbClr val="2E75B6"/>
            </a:solidFill>
            <a:prstDash val="solid"/>
          </a:ln>
        </p:spPr>
      </p:sp>
      <p:sp>
        <p:nvSpPr>
          <p:cNvPr id="87" name="Text 85"/>
          <p:cNvSpPr/>
          <p:nvPr/>
        </p:nvSpPr>
        <p:spPr>
          <a:xfrm>
            <a:off x="6131052" y="4956048"/>
            <a:ext cx="2855214" cy="347472"/>
          </a:xfrm>
          <a:prstGeom prst="rect">
            <a:avLst/>
          </a:prstGeom>
          <a:noFill/>
          <a:ln/>
        </p:spPr>
        <p:txBody>
          <a:bodyPr wrap="square"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鈴木 部長</a:t>
            </a:r>
            <a:endParaRPr lang="en-US" sz="1000" dirty="0"/>
          </a:p>
        </p:txBody>
      </p:sp>
      <p:sp>
        <p:nvSpPr>
          <p:cNvPr id="88" name="Shape 86"/>
          <p:cNvSpPr/>
          <p:nvPr/>
        </p:nvSpPr>
        <p:spPr>
          <a:xfrm>
            <a:off x="9004554" y="4700016"/>
            <a:ext cx="2910078" cy="256032"/>
          </a:xfrm>
          <a:prstGeom prst="rect">
            <a:avLst/>
          </a:prstGeom>
          <a:solidFill>
            <a:srgbClr val="D6E4F0"/>
          </a:solidFill>
          <a:ln w="3810">
            <a:solidFill>
              <a:srgbClr val="2E75B6"/>
            </a:solidFill>
            <a:prstDash val="solid"/>
          </a:ln>
        </p:spPr>
      </p:sp>
      <p:sp>
        <p:nvSpPr>
          <p:cNvPr id="89" name="Text 87"/>
          <p:cNvSpPr/>
          <p:nvPr/>
        </p:nvSpPr>
        <p:spPr>
          <a:xfrm>
            <a:off x="9041130" y="4700016"/>
            <a:ext cx="2855214" cy="256032"/>
          </a:xfrm>
          <a:prstGeom prst="rect">
            <a:avLst/>
          </a:prstGeom>
          <a:noFill/>
          <a:ln/>
        </p:spPr>
        <p:txBody>
          <a:bodyPr wrap="square" rtlCol="0" anchor="ctr"/>
          <a:lstStyle/>
          <a:p>
            <a:pPr algn="ctr" indent="0" marL="0">
              <a:buNone/>
            </a:pPr>
            <a:r>
              <a:rPr lang="en-US" sz="800" b="1" dirty="0">
                <a:solidFill>
                  <a:srgbClr val="1A3A5C"/>
                </a:solidFill>
                <a:latin typeface="Calibri" pitchFamily="34" charset="0"/>
                <a:ea typeface="Calibri" pitchFamily="34" charset="-122"/>
                <a:cs typeface="Calibri" pitchFamily="34" charset="-120"/>
              </a:rPr>
              <a:t>承認者（顧客）</a:t>
            </a:r>
            <a:endParaRPr lang="en-US" sz="800" dirty="0"/>
          </a:p>
        </p:txBody>
      </p:sp>
      <p:sp>
        <p:nvSpPr>
          <p:cNvPr id="90" name="Shape 88"/>
          <p:cNvSpPr/>
          <p:nvPr/>
        </p:nvSpPr>
        <p:spPr>
          <a:xfrm>
            <a:off x="9004554" y="4956048"/>
            <a:ext cx="2910078" cy="347472"/>
          </a:xfrm>
          <a:prstGeom prst="rect">
            <a:avLst/>
          </a:prstGeom>
          <a:solidFill>
            <a:srgbClr val="F0F6FF"/>
          </a:solidFill>
          <a:ln w="3810">
            <a:solidFill>
              <a:srgbClr val="2E75B6"/>
            </a:solidFill>
            <a:prstDash val="solid"/>
          </a:ln>
        </p:spPr>
      </p:sp>
      <p:sp>
        <p:nvSpPr>
          <p:cNvPr id="91" name="Text 89"/>
          <p:cNvSpPr/>
          <p:nvPr/>
        </p:nvSpPr>
        <p:spPr>
          <a:xfrm>
            <a:off x="9041130" y="4956048"/>
            <a:ext cx="2855214" cy="347472"/>
          </a:xfrm>
          <a:prstGeom prst="rect">
            <a:avLst/>
          </a:prstGeom>
          <a:noFill/>
          <a:ln/>
        </p:spPr>
        <p:txBody>
          <a:bodyPr wrap="square"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山田 様</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8Dレポート 温度センサードリフト</dc:title>
  <dc:subject>PptxGenJS Presentation</dc:subject>
  <dc:creator>製造株式会社 品質保証部</dc:creator>
  <cp:lastModifiedBy>製造株式会社 品質保証部</cp:lastModifiedBy>
  <cp:revision>1</cp:revision>
  <dcterms:created xsi:type="dcterms:W3CDTF">2026-04-05T13:21:34Z</dcterms:created>
  <dcterms:modified xsi:type="dcterms:W3CDTF">2026-04-05T13:21:34Z</dcterms:modified>
</cp:coreProperties>
</file>