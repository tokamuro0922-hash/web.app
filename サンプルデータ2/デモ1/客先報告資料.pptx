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0F0"/>
                </a:solidFill>
              </a:rPr>
              <a:t>客先報告資料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HP-320型油圧ポンプユニット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不具合対応報告書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0F0"/>
                </a:solidFill>
              </a:rPr>
              <a:t>異音発生問題に対する根本原因分析および是正処置報告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テクゼロン株式会社　第1設計部 / 品質保証部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2023年8月20日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2743200" cy="822960"/>
          </a:xfrm>
          <a:prstGeom prst="rect">
            <a:avLst/>
          </a:prstGeom>
          <a:solidFill>
            <a:srgbClr val="0D2E5A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0F0"/>
                </a:solidFill>
              </a:rPr>
              <a:t>文書番号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CR-HP320-2023-042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4114800"/>
            <a:ext cx="2743200" cy="822960"/>
          </a:xfrm>
          <a:prstGeom prst="rect">
            <a:avLst/>
          </a:prstGeom>
          <a:solidFill>
            <a:srgbClr val="0D2E5A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0F0"/>
                </a:solidFill>
              </a:rPr>
              <a:t>図番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4434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HP320-A000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4114800"/>
            <a:ext cx="2743200" cy="822960"/>
          </a:xfrm>
          <a:prstGeom prst="rect">
            <a:avLst/>
          </a:prstGeom>
          <a:solidFill>
            <a:srgbClr val="0D2E5A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0F0"/>
                </a:solidFill>
              </a:rPr>
              <a:t>顧客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4434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ABC製造株式会社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35440" y="4114800"/>
            <a:ext cx="2743200" cy="822960"/>
          </a:xfrm>
          <a:prstGeom prst="rect">
            <a:avLst/>
          </a:prstGeom>
          <a:solidFill>
            <a:srgbClr val="0D2E5A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0F0"/>
                </a:solidFill>
              </a:rPr>
              <a:t>報告者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235440" y="4434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田中 誠（設計部）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エグゼクティブサマリー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669280" cy="1463040"/>
          </a:xfrm>
          <a:prstGeom prst="rect">
            <a:avLst/>
          </a:prstGeom>
          <a:solidFill>
            <a:srgbClr val="FFECE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57200" cy="14630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不具合概要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2023年4月28日、HP-320ユニット（稼働後200h）にて異音発生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騒音レベル72dB（規格値65dB超過）、ABC製造様第2ライン停止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005840"/>
            <a:ext cx="5669280" cy="1463040"/>
          </a:xfrm>
          <a:prstGeom prst="rect">
            <a:avLst/>
          </a:prstGeom>
          <a:solidFill>
            <a:srgbClr val="EFFFEF"/>
          </a:solidFill>
          <a:ln w="19050">
            <a:solidFill>
              <a:srgbClr val="0077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005840"/>
            <a:ext cx="457200" cy="1463040"/>
          </a:xfrm>
          <a:prstGeom prst="rect">
            <a:avLst/>
          </a:prstGeom>
          <a:solidFill>
            <a:srgbClr val="007700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00"/>
                </a:solidFill>
              </a:rPr>
              <a:t>根本原因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0" y="15087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グリス封入量の定量管理基準が未整備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作業者の目視判断に依存（下限付近での封入多発）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5669280" cy="1463040"/>
          </a:xfrm>
          <a:prstGeom prst="rect">
            <a:avLst/>
          </a:prstGeom>
          <a:solidFill>
            <a:srgbClr val="EBF5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651760"/>
            <a:ext cx="457200" cy="146304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C0"/>
                </a:solidFill>
              </a:rPr>
              <a:t>是正処置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1546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グリス定量ディスペンサー導入（2023年6月）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軸受材質変更（SUJ2→セラミック）・作業指示書改訂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651760"/>
            <a:ext cx="5669280" cy="1463040"/>
          </a:xfrm>
          <a:prstGeom prst="rect">
            <a:avLst/>
          </a:prstGeom>
          <a:solidFill>
            <a:srgbClr val="F5EEFF"/>
          </a:solidFill>
          <a:ln w="19050">
            <a:solidFill>
              <a:srgbClr val="7030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651760"/>
            <a:ext cx="457200" cy="146304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30A0"/>
                </a:solidFill>
              </a:rPr>
              <a:t>効果確認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31546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500時間耐久試験合格（58dB、規格62dB以下）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顧客承認完了（2023年8月15日）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29768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97D"/>
                </a:solidFill>
              </a:rPr>
              <a:t>本件は恒久対策完了・水平展開済み。同型機の再発リスクは排除済み。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問題の発生経緯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1247120" cy="548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920240"/>
            <a:ext cx="365760" cy="36576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C0"/>
                </a:solidFill>
              </a:rPr>
              <a:t>2023.3.15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C0"/>
                </a:solidFill>
              </a:rPr>
              <a:t>出荷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17373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HP-320（ロット: LOT-2023-0412）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出荷前検査合格　ABC製造様へ納品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17520" y="1920240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</a:rPr>
              <a:t>2023.4.28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不具合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23160" y="2468880"/>
            <a:ext cx="17373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5146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稼働後200時間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異音発生・騒音72dB検出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ライン停止4時間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1920240"/>
            <a:ext cx="365760" cy="36576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C00"/>
                </a:solidFill>
              </a:rPr>
              <a:t>2023.4.29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00"/>
                </a:solidFill>
              </a:rPr>
              <a:t>暫定対策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3400" y="2468880"/>
            <a:ext cx="17373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25146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代替機と交換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同ロット品5台点検開始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1920240"/>
            <a:ext cx="365760" cy="36576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030A0"/>
                </a:solidFill>
              </a:rPr>
              <a:t>2023.5.10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</a:rPr>
              <a:t>根本原因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2468880"/>
            <a:ext cx="17373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5146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なぜなぜ分析完了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グリス管理基準不備と特定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778240" y="1920240"/>
            <a:ext cx="365760" cy="365760"/>
          </a:xfrm>
          <a:prstGeom prst="ellipse">
            <a:avLst/>
          </a:prstGeom>
          <a:solidFill>
            <a:srgbClr val="0077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00"/>
                </a:solidFill>
              </a:rPr>
              <a:t>2023.6.1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3816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00"/>
                </a:solidFill>
              </a:rPr>
              <a:t>恒久対策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83880" y="2468880"/>
            <a:ext cx="17373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77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25146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定量ディスペンサー導入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作業指示書改訂・展開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698480" y="1920240"/>
            <a:ext cx="365760" cy="365760"/>
          </a:xfrm>
          <a:prstGeom prst="ellipse">
            <a:avLst/>
          </a:prstGeom>
          <a:solidFill>
            <a:srgbClr val="0077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00"/>
                </a:solidFill>
              </a:rPr>
              <a:t>2023.8.15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00"/>
                </a:solidFill>
              </a:rPr>
              <a:t>顧客承認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104120" y="2468880"/>
            <a:ext cx="17373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7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49840" y="25146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500h耐久試験合格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顧客承認・報告書提出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根本原因分析　なぜなぜ5回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28016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なぜ1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37360" y="914400"/>
            <a:ext cx="10058400" cy="502920"/>
          </a:xfrm>
          <a:prstGeom prst="rect">
            <a:avLst/>
          </a:prstGeom>
          <a:solidFill>
            <a:srgbClr val="F8F8F8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94183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軸受から異音が発生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54864" cy="155448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572768"/>
            <a:ext cx="457200" cy="137160"/>
          </a:xfrm>
          <a:prstGeom prst="triangle">
            <a:avLst/>
          </a:prstGeom>
          <a:solidFill>
            <a:srgbClr val="AAAAAA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572768"/>
            <a:ext cx="1280160" cy="502920"/>
          </a:xfrm>
          <a:prstGeom prst="rect">
            <a:avLst/>
          </a:prstGeom>
          <a:solidFill>
            <a:srgbClr val="D04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なぜ2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37360" y="1572768"/>
            <a:ext cx="10058400" cy="502920"/>
          </a:xfrm>
          <a:prstGeom prst="rect">
            <a:avLst/>
          </a:prstGeom>
          <a:solidFill>
            <a:srgbClr val="F8F8F8"/>
          </a:solidFill>
          <a:ln w="12700">
            <a:solidFill>
              <a:srgbClr val="D04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16002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軸受の内部すきまが増大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2075688"/>
            <a:ext cx="54864" cy="155448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231136"/>
            <a:ext cx="457200" cy="137160"/>
          </a:xfrm>
          <a:prstGeom prst="triangle">
            <a:avLst/>
          </a:prstGeom>
          <a:solidFill>
            <a:srgbClr val="AAAAAA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231136"/>
            <a:ext cx="1280160" cy="502920"/>
          </a:xfrm>
          <a:prstGeom prst="rect">
            <a:avLst/>
          </a:prstGeom>
          <a:solidFill>
            <a:srgbClr val="E07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23113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なぜ3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37360" y="2231136"/>
            <a:ext cx="10058400" cy="502920"/>
          </a:xfrm>
          <a:prstGeom prst="rect">
            <a:avLst/>
          </a:prstGeom>
          <a:solidFill>
            <a:srgbClr val="F8F8F8"/>
          </a:solidFill>
          <a:ln w="12700">
            <a:solidFill>
              <a:srgbClr val="E07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225856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グリスが早期劣化・散逸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2734056"/>
            <a:ext cx="54864" cy="155448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889504"/>
            <a:ext cx="457200" cy="137160"/>
          </a:xfrm>
          <a:prstGeom prst="triangle">
            <a:avLst/>
          </a:prstGeom>
          <a:solidFill>
            <a:srgbClr val="AAAAAA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889504"/>
            <a:ext cx="1280160" cy="502920"/>
          </a:xfrm>
          <a:prstGeom prst="rect">
            <a:avLst/>
          </a:prstGeom>
          <a:solidFill>
            <a:srgbClr val="E09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88950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なぜ4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37360" y="2889504"/>
            <a:ext cx="10058400" cy="502920"/>
          </a:xfrm>
          <a:prstGeom prst="rect">
            <a:avLst/>
          </a:prstGeom>
          <a:solidFill>
            <a:srgbClr val="F8F8F8"/>
          </a:solidFill>
          <a:ln w="12700">
            <a:solidFill>
              <a:srgbClr val="E09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2916936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グリス封入量が規定下限付近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3392424"/>
            <a:ext cx="54864" cy="155448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3547872"/>
            <a:ext cx="457200" cy="137160"/>
          </a:xfrm>
          <a:prstGeom prst="triangle">
            <a:avLst/>
          </a:prstGeom>
          <a:solidFill>
            <a:srgbClr val="AAAAAA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3547872"/>
            <a:ext cx="1280160" cy="502920"/>
          </a:xfrm>
          <a:prstGeom prst="rect">
            <a:avLst/>
          </a:prstGeom>
          <a:solidFill>
            <a:srgbClr val="7030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54787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なぜ5（根本原因）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737360" y="3547872"/>
            <a:ext cx="10058400" cy="502920"/>
          </a:xfrm>
          <a:prstGeom prst="rect">
            <a:avLst/>
          </a:prstGeom>
          <a:solidFill>
            <a:srgbClr val="F5EEFF"/>
          </a:solidFill>
          <a:ln w="25400">
            <a:solidFill>
              <a:srgbClr val="7030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357530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30A0"/>
                </a:solidFill>
              </a:rPr>
              <a:t>グリス封入量の定量管理基準が存在しなかった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4320" y="4297680"/>
            <a:ext cx="11612880" cy="548640"/>
          </a:xfrm>
          <a:prstGeom prst="rect">
            <a:avLst/>
          </a:prstGeom>
          <a:solidFill>
            <a:srgbClr val="7030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2976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根本原因: グリス封入量の定量管理基準が未整備 → 作業者の判断に依存していた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是正処置と効果確認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</a:rPr>
              <a:t>是正処置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5486400" cy="594360"/>
          </a:xfrm>
          <a:prstGeom prst="rect">
            <a:avLst/>
          </a:prstGeom>
          <a:solidFill>
            <a:srgbClr val="EBF5FF"/>
          </a:solidFill>
          <a:ln w="6350">
            <a:solidFill>
              <a:srgbClr val="0070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07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0C0"/>
                </a:solidFill>
              </a:rPr>
              <a:t>2023.6.1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307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グリス定量ディスペンサー導入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6002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封入量3.5±0.2g　記録必須化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933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0C0"/>
                </a:solidFill>
              </a:rPr>
              <a:t>2023.6.15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9933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作業指示書改訂（WI-HP320-020）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2860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グリス封入量の記録票追加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5486400" cy="594360"/>
          </a:xfrm>
          <a:prstGeom prst="rect">
            <a:avLst/>
          </a:prstGeom>
          <a:solidFill>
            <a:srgbClr val="EBF5FF"/>
          </a:solidFill>
          <a:ln w="6350">
            <a:solidFill>
              <a:srgbClr val="0070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791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0C0"/>
                </a:solidFill>
              </a:rPr>
              <a:t>2023.7.1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2679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軸受材質変更（SUJ2→セラミック）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2971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設計変更番号: ECN-2023-089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64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0C0"/>
                </a:solidFill>
              </a:rPr>
              <a:t>2023.7.1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63040" y="3364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騒音検査基準厳格化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3657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65dB→62dBへ管理値変更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00"/>
                </a:solidFill>
              </a:rPr>
              <a:t>効果確認結果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1234440"/>
            <a:ext cx="5669280" cy="1645920"/>
          </a:xfrm>
          <a:prstGeom prst="rect">
            <a:avLst/>
          </a:prstGeom>
          <a:solidFill>
            <a:srgbClr val="EFFFEF"/>
          </a:solidFill>
          <a:ln w="19050">
            <a:solidFill>
              <a:srgbClr val="007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00"/>
                </a:solidFill>
              </a:rPr>
              <a:t>500時間耐久試験（2023.7.10〜8.10）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騒音レベル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17373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00"/>
                </a:solidFill>
              </a:rPr>
              <a:t>58 dB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332720" y="17373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00"/>
                </a:solidFill>
              </a:rPr>
              <a:t>規格62dB以下　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1214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軸受摩耗量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0" y="21214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00"/>
                </a:solidFill>
              </a:rPr>
              <a:t>0.003 mm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332720" y="21214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00"/>
                </a:solidFill>
              </a:rPr>
              <a:t>設計許容値以内　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25054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グリス残存量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0" y="250545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00"/>
                </a:solidFill>
              </a:rPr>
              <a:t>適正範囲内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332720" y="250545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00"/>
                </a:solidFill>
              </a:rPr>
              <a:t>封入量管理有効　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3017520"/>
            <a:ext cx="5669280" cy="914400"/>
          </a:xfrm>
          <a:prstGeom prst="rect">
            <a:avLst/>
          </a:prstGeom>
          <a:solidFill>
            <a:srgbClr val="DEEAF1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063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</a:rPr>
              <a:t>水平展開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33832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HP-280 / HP-400 / HPX-500の作業指示書改訂完了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社内規格TZ-STD-2023-045制定・全工場展開済み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0F0"/>
                </a:solidFill>
              </a:rPr>
              <a:t>今後のお約束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品質の継続的改善への取り組み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1645920"/>
          </a:xfrm>
          <a:prstGeom prst="rect">
            <a:avLst/>
          </a:prstGeom>
          <a:solidFill>
            <a:srgbClr val="0D2E5A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1600200"/>
            <a:ext cx="457200" cy="457200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7" name="Text 5"/>
          <p:cNvSpPr/>
          <p:nvPr/>
        </p:nvSpPr>
        <p:spPr>
          <a:xfrm>
            <a:off x="1874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97D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定量管理の全工程展開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今回の教訓をもとに、全組立工程の定量管理状況を点検・強化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657600" cy="1645920"/>
          </a:xfrm>
          <a:prstGeom prst="rect">
            <a:avLst/>
          </a:prstGeom>
          <a:solidFill>
            <a:srgbClr val="0D2E5A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1600200"/>
            <a:ext cx="457200" cy="457200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97D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1920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設計FMEA・工程FMEAの見直し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24688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異音リスクを全機種のFMEAに追加。設計段階での未然防止を徹底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657600" cy="1645920"/>
          </a:xfrm>
          <a:prstGeom prst="rect">
            <a:avLst/>
          </a:prstGeom>
          <a:solidFill>
            <a:srgbClr val="0D2E5A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55480" y="1600200"/>
            <a:ext cx="457200" cy="457200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17" name="Text 15"/>
          <p:cNvSpPr/>
          <p:nvPr/>
        </p:nvSpPr>
        <p:spPr>
          <a:xfrm>
            <a:off x="95554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97D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1920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定期品質報告の継続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75320" y="24688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今後6ヶ月間、月次で品質状況をご報告（次回: 2023年9月20日）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ご不明点がございましたら、担当: 田中 誠（第1設計部）までご連絡ください。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0F0"/>
                </a:solidFill>
              </a:rPr>
              <a:t>tekunzeron-quality@tekzeron.co.jp　　Tel: 06-XXXX-XXXX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2026-04-06T07:05:14Z</dcterms:created>
  <dcterms:modified xsi:type="dcterms:W3CDTF">2026-04-06T07:05:14Z</dcterms:modified>
</cp:coreProperties>
</file>